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1027"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6B495-15A2-CC97-C38A-DE40425011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69B4F7-CAB8-6CED-984A-C388682C52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372D9-C309-DD6A-64FB-B5412DA03948}"/>
              </a:ext>
            </a:extLst>
          </p:cNvPr>
          <p:cNvSpPr>
            <a:spLocks noGrp="1"/>
          </p:cNvSpPr>
          <p:nvPr>
            <p:ph type="dt" sz="half" idx="10"/>
          </p:nvPr>
        </p:nvSpPr>
        <p:spPr/>
        <p:txBody>
          <a:bodyPr/>
          <a:lstStyle/>
          <a:p>
            <a:fld id="{AFFCB25B-3E07-4109-9216-C5AA0A10054D}" type="datetimeFigureOut">
              <a:rPr lang="en-IN" smtClean="0"/>
              <a:t>21-10-2026</a:t>
            </a:fld>
            <a:endParaRPr lang="en-IN"/>
          </a:p>
        </p:txBody>
      </p:sp>
      <p:sp>
        <p:nvSpPr>
          <p:cNvPr id="5" name="Footer Placeholder 4">
            <a:extLst>
              <a:ext uri="{FF2B5EF4-FFF2-40B4-BE49-F238E27FC236}">
                <a16:creationId xmlns:a16="http://schemas.microsoft.com/office/drawing/2014/main" id="{6F4C6B9F-17C9-6988-6814-E1AFCA07B3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59C76C-D949-88A0-064F-4CDFBDF4494E}"/>
              </a:ext>
            </a:extLst>
          </p:cNvPr>
          <p:cNvSpPr>
            <a:spLocks noGrp="1"/>
          </p:cNvSpPr>
          <p:nvPr>
            <p:ph type="sldNum" sz="quarter" idx="12"/>
          </p:nvPr>
        </p:nvSpPr>
        <p:spPr/>
        <p:txBody>
          <a:bodyPr/>
          <a:lstStyle/>
          <a:p>
            <a:fld id="{9C76D430-29F5-425A-908E-736F5FBB96AE}" type="slidenum">
              <a:rPr lang="en-IN" smtClean="0"/>
              <a:t>‹#›</a:t>
            </a:fld>
            <a:endParaRPr lang="en-IN"/>
          </a:p>
        </p:txBody>
      </p:sp>
    </p:spTree>
    <p:extLst>
      <p:ext uri="{BB962C8B-B14F-4D97-AF65-F5344CB8AC3E}">
        <p14:creationId xmlns:p14="http://schemas.microsoft.com/office/powerpoint/2010/main" val="1343385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3C33A-DCF9-2131-894E-A2CF596F18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52959D-1B01-D739-83ED-6DD6D3304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475E64-2423-F688-287B-A38BA8FD3BB3}"/>
              </a:ext>
            </a:extLst>
          </p:cNvPr>
          <p:cNvSpPr>
            <a:spLocks noGrp="1"/>
          </p:cNvSpPr>
          <p:nvPr>
            <p:ph type="dt" sz="half" idx="10"/>
          </p:nvPr>
        </p:nvSpPr>
        <p:spPr/>
        <p:txBody>
          <a:bodyPr/>
          <a:lstStyle/>
          <a:p>
            <a:fld id="{AFFCB25B-3E07-4109-9216-C5AA0A10054D}" type="datetimeFigureOut">
              <a:rPr lang="en-IN" smtClean="0"/>
              <a:t>21-10-2026</a:t>
            </a:fld>
            <a:endParaRPr lang="en-IN"/>
          </a:p>
        </p:txBody>
      </p:sp>
      <p:sp>
        <p:nvSpPr>
          <p:cNvPr id="5" name="Footer Placeholder 4">
            <a:extLst>
              <a:ext uri="{FF2B5EF4-FFF2-40B4-BE49-F238E27FC236}">
                <a16:creationId xmlns:a16="http://schemas.microsoft.com/office/drawing/2014/main" id="{AC839488-312E-9B4C-5E84-639B303E1B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1EAEEC-CE5F-12F2-0DA6-AAD299CF6FF1}"/>
              </a:ext>
            </a:extLst>
          </p:cNvPr>
          <p:cNvSpPr>
            <a:spLocks noGrp="1"/>
          </p:cNvSpPr>
          <p:nvPr>
            <p:ph type="sldNum" sz="quarter" idx="12"/>
          </p:nvPr>
        </p:nvSpPr>
        <p:spPr/>
        <p:txBody>
          <a:bodyPr/>
          <a:lstStyle/>
          <a:p>
            <a:fld id="{9C76D430-29F5-425A-908E-736F5FBB96AE}" type="slidenum">
              <a:rPr lang="en-IN" smtClean="0"/>
              <a:t>‹#›</a:t>
            </a:fld>
            <a:endParaRPr lang="en-IN"/>
          </a:p>
        </p:txBody>
      </p:sp>
    </p:spTree>
    <p:extLst>
      <p:ext uri="{BB962C8B-B14F-4D97-AF65-F5344CB8AC3E}">
        <p14:creationId xmlns:p14="http://schemas.microsoft.com/office/powerpoint/2010/main" val="109161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5C469-67BE-BEFC-AF51-BC8B7EB98C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5AE5A04-9A87-27B5-95CD-ECD3350AAD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5C618E-3E0C-EF09-C4F9-C155F0FF72B2}"/>
              </a:ext>
            </a:extLst>
          </p:cNvPr>
          <p:cNvSpPr>
            <a:spLocks noGrp="1"/>
          </p:cNvSpPr>
          <p:nvPr>
            <p:ph type="dt" sz="half" idx="10"/>
          </p:nvPr>
        </p:nvSpPr>
        <p:spPr/>
        <p:txBody>
          <a:bodyPr/>
          <a:lstStyle/>
          <a:p>
            <a:fld id="{AFFCB25B-3E07-4109-9216-C5AA0A10054D}" type="datetimeFigureOut">
              <a:rPr lang="en-IN" smtClean="0"/>
              <a:t>21-10-2026</a:t>
            </a:fld>
            <a:endParaRPr lang="en-IN"/>
          </a:p>
        </p:txBody>
      </p:sp>
      <p:sp>
        <p:nvSpPr>
          <p:cNvPr id="5" name="Footer Placeholder 4">
            <a:extLst>
              <a:ext uri="{FF2B5EF4-FFF2-40B4-BE49-F238E27FC236}">
                <a16:creationId xmlns:a16="http://schemas.microsoft.com/office/drawing/2014/main" id="{6C404F61-1585-1F84-287E-BC8287BA33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C3CE13-8319-DF8D-FFF4-CD1AB5D1040F}"/>
              </a:ext>
            </a:extLst>
          </p:cNvPr>
          <p:cNvSpPr>
            <a:spLocks noGrp="1"/>
          </p:cNvSpPr>
          <p:nvPr>
            <p:ph type="sldNum" sz="quarter" idx="12"/>
          </p:nvPr>
        </p:nvSpPr>
        <p:spPr/>
        <p:txBody>
          <a:bodyPr/>
          <a:lstStyle/>
          <a:p>
            <a:fld id="{9C76D430-29F5-425A-908E-736F5FBB96AE}" type="slidenum">
              <a:rPr lang="en-IN" smtClean="0"/>
              <a:t>‹#›</a:t>
            </a:fld>
            <a:endParaRPr lang="en-IN"/>
          </a:p>
        </p:txBody>
      </p:sp>
    </p:spTree>
    <p:extLst>
      <p:ext uri="{BB962C8B-B14F-4D97-AF65-F5344CB8AC3E}">
        <p14:creationId xmlns:p14="http://schemas.microsoft.com/office/powerpoint/2010/main" val="3367257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EFDA6-80C8-B070-E71C-528FB5837F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A8BDD8-4BC2-A289-F1AD-67D175DD22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C9FDA33-4AAE-0B10-B54F-87EA982A96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EFD12E-104C-0480-0D13-38FD8FB0FDE5}"/>
              </a:ext>
            </a:extLst>
          </p:cNvPr>
          <p:cNvSpPr>
            <a:spLocks noGrp="1"/>
          </p:cNvSpPr>
          <p:nvPr>
            <p:ph type="dt" sz="half" idx="10"/>
          </p:nvPr>
        </p:nvSpPr>
        <p:spPr/>
        <p:txBody>
          <a:bodyPr/>
          <a:lstStyle/>
          <a:p>
            <a:fld id="{AFFCB25B-3E07-4109-9216-C5AA0A10054D}" type="datetimeFigureOut">
              <a:rPr lang="en-IN" smtClean="0"/>
              <a:t>21-10-2026</a:t>
            </a:fld>
            <a:endParaRPr lang="en-IN"/>
          </a:p>
        </p:txBody>
      </p:sp>
      <p:sp>
        <p:nvSpPr>
          <p:cNvPr id="6" name="Footer Placeholder 5">
            <a:extLst>
              <a:ext uri="{FF2B5EF4-FFF2-40B4-BE49-F238E27FC236}">
                <a16:creationId xmlns:a16="http://schemas.microsoft.com/office/drawing/2014/main" id="{A8A3D29D-6C07-BB5D-CE79-019F42193F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F113A1-EC11-59F2-0183-6B21D16B0F43}"/>
              </a:ext>
            </a:extLst>
          </p:cNvPr>
          <p:cNvSpPr>
            <a:spLocks noGrp="1"/>
          </p:cNvSpPr>
          <p:nvPr>
            <p:ph type="sldNum" sz="quarter" idx="12"/>
          </p:nvPr>
        </p:nvSpPr>
        <p:spPr/>
        <p:txBody>
          <a:bodyPr/>
          <a:lstStyle/>
          <a:p>
            <a:fld id="{9C76D430-29F5-425A-908E-736F5FBB96AE}" type="slidenum">
              <a:rPr lang="en-IN" smtClean="0"/>
              <a:t>‹#›</a:t>
            </a:fld>
            <a:endParaRPr lang="en-IN"/>
          </a:p>
        </p:txBody>
      </p:sp>
    </p:spTree>
    <p:extLst>
      <p:ext uri="{BB962C8B-B14F-4D97-AF65-F5344CB8AC3E}">
        <p14:creationId xmlns:p14="http://schemas.microsoft.com/office/powerpoint/2010/main" val="610453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E7033-B5D5-7D1B-D5AF-4DB0216E35A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B0FC98-558C-22DD-3995-49765B2316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A8F404-2C9F-2575-1637-D342A79315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BF537F-C4D5-E856-423D-F2FE169827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C528D7-CBE3-4502-4B8C-55EF8AD22B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CC9A73E-00C1-F87A-265D-7C430104BA72}"/>
              </a:ext>
            </a:extLst>
          </p:cNvPr>
          <p:cNvSpPr>
            <a:spLocks noGrp="1"/>
          </p:cNvSpPr>
          <p:nvPr>
            <p:ph type="dt" sz="half" idx="10"/>
          </p:nvPr>
        </p:nvSpPr>
        <p:spPr/>
        <p:txBody>
          <a:bodyPr/>
          <a:lstStyle/>
          <a:p>
            <a:fld id="{AFFCB25B-3E07-4109-9216-C5AA0A10054D}" type="datetimeFigureOut">
              <a:rPr lang="en-IN" smtClean="0"/>
              <a:t>21-10-2026</a:t>
            </a:fld>
            <a:endParaRPr lang="en-IN"/>
          </a:p>
        </p:txBody>
      </p:sp>
      <p:sp>
        <p:nvSpPr>
          <p:cNvPr id="8" name="Footer Placeholder 7">
            <a:extLst>
              <a:ext uri="{FF2B5EF4-FFF2-40B4-BE49-F238E27FC236}">
                <a16:creationId xmlns:a16="http://schemas.microsoft.com/office/drawing/2014/main" id="{21E8DE11-F27B-9664-C506-55D81A7FF02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1FB4B86-A342-BDF3-299C-E10C38A4A3FC}"/>
              </a:ext>
            </a:extLst>
          </p:cNvPr>
          <p:cNvSpPr>
            <a:spLocks noGrp="1"/>
          </p:cNvSpPr>
          <p:nvPr>
            <p:ph type="sldNum" sz="quarter" idx="12"/>
          </p:nvPr>
        </p:nvSpPr>
        <p:spPr/>
        <p:txBody>
          <a:bodyPr/>
          <a:lstStyle/>
          <a:p>
            <a:fld id="{9C76D430-29F5-425A-908E-736F5FBB96AE}" type="slidenum">
              <a:rPr lang="en-IN" smtClean="0"/>
              <a:t>‹#›</a:t>
            </a:fld>
            <a:endParaRPr lang="en-IN"/>
          </a:p>
        </p:txBody>
      </p:sp>
    </p:spTree>
    <p:extLst>
      <p:ext uri="{BB962C8B-B14F-4D97-AF65-F5344CB8AC3E}">
        <p14:creationId xmlns:p14="http://schemas.microsoft.com/office/powerpoint/2010/main" val="2971462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6027E-D599-2E80-D1F7-3428C0AD82D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5261B6D-9096-21A3-287E-7AD3EEF197F1}"/>
              </a:ext>
            </a:extLst>
          </p:cNvPr>
          <p:cNvSpPr>
            <a:spLocks noGrp="1"/>
          </p:cNvSpPr>
          <p:nvPr>
            <p:ph type="dt" sz="half" idx="10"/>
          </p:nvPr>
        </p:nvSpPr>
        <p:spPr/>
        <p:txBody>
          <a:bodyPr/>
          <a:lstStyle/>
          <a:p>
            <a:fld id="{AFFCB25B-3E07-4109-9216-C5AA0A10054D}" type="datetimeFigureOut">
              <a:rPr lang="en-IN" smtClean="0"/>
              <a:t>21-10-2026</a:t>
            </a:fld>
            <a:endParaRPr lang="en-IN"/>
          </a:p>
        </p:txBody>
      </p:sp>
      <p:sp>
        <p:nvSpPr>
          <p:cNvPr id="4" name="Footer Placeholder 3">
            <a:extLst>
              <a:ext uri="{FF2B5EF4-FFF2-40B4-BE49-F238E27FC236}">
                <a16:creationId xmlns:a16="http://schemas.microsoft.com/office/drawing/2014/main" id="{D00C942A-915A-41D6-C043-0EF44CD87E7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035D4D-EF6E-DE71-43A8-F42AC07036A2}"/>
              </a:ext>
            </a:extLst>
          </p:cNvPr>
          <p:cNvSpPr>
            <a:spLocks noGrp="1"/>
          </p:cNvSpPr>
          <p:nvPr>
            <p:ph type="sldNum" sz="quarter" idx="12"/>
          </p:nvPr>
        </p:nvSpPr>
        <p:spPr/>
        <p:txBody>
          <a:bodyPr/>
          <a:lstStyle/>
          <a:p>
            <a:fld id="{9C76D430-29F5-425A-908E-736F5FBB96AE}" type="slidenum">
              <a:rPr lang="en-IN" smtClean="0"/>
              <a:t>‹#›</a:t>
            </a:fld>
            <a:endParaRPr lang="en-IN"/>
          </a:p>
        </p:txBody>
      </p:sp>
    </p:spTree>
    <p:extLst>
      <p:ext uri="{BB962C8B-B14F-4D97-AF65-F5344CB8AC3E}">
        <p14:creationId xmlns:p14="http://schemas.microsoft.com/office/powerpoint/2010/main" val="574977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673FE2-3D56-A760-8964-AA082E7B9E42}"/>
              </a:ext>
            </a:extLst>
          </p:cNvPr>
          <p:cNvSpPr>
            <a:spLocks noGrp="1"/>
          </p:cNvSpPr>
          <p:nvPr>
            <p:ph type="dt" sz="half" idx="10"/>
          </p:nvPr>
        </p:nvSpPr>
        <p:spPr/>
        <p:txBody>
          <a:bodyPr/>
          <a:lstStyle/>
          <a:p>
            <a:fld id="{AFFCB25B-3E07-4109-9216-C5AA0A10054D}" type="datetimeFigureOut">
              <a:rPr lang="en-IN" smtClean="0"/>
              <a:t>21-10-2026</a:t>
            </a:fld>
            <a:endParaRPr lang="en-IN"/>
          </a:p>
        </p:txBody>
      </p:sp>
      <p:sp>
        <p:nvSpPr>
          <p:cNvPr id="3" name="Footer Placeholder 2">
            <a:extLst>
              <a:ext uri="{FF2B5EF4-FFF2-40B4-BE49-F238E27FC236}">
                <a16:creationId xmlns:a16="http://schemas.microsoft.com/office/drawing/2014/main" id="{0F6A92BD-F324-CF0D-70B9-ED681155594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F32D958-6217-2E7B-1CD1-9908E3F9B55F}"/>
              </a:ext>
            </a:extLst>
          </p:cNvPr>
          <p:cNvSpPr>
            <a:spLocks noGrp="1"/>
          </p:cNvSpPr>
          <p:nvPr>
            <p:ph type="sldNum" sz="quarter" idx="12"/>
          </p:nvPr>
        </p:nvSpPr>
        <p:spPr/>
        <p:txBody>
          <a:bodyPr/>
          <a:lstStyle/>
          <a:p>
            <a:fld id="{9C76D430-29F5-425A-908E-736F5FBB96AE}" type="slidenum">
              <a:rPr lang="en-IN" smtClean="0"/>
              <a:t>‹#›</a:t>
            </a:fld>
            <a:endParaRPr lang="en-IN"/>
          </a:p>
        </p:txBody>
      </p:sp>
    </p:spTree>
    <p:extLst>
      <p:ext uri="{BB962C8B-B14F-4D97-AF65-F5344CB8AC3E}">
        <p14:creationId xmlns:p14="http://schemas.microsoft.com/office/powerpoint/2010/main" val="3103689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AEBED-1DF0-80DC-CE7C-E682AA808F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1F7083C-4A09-FA87-BB5C-3880ABB012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3FEEC5-3C8B-3B75-2A23-DB193D20F6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5547CF-A2D5-7F69-EAB5-160912242EFB}"/>
              </a:ext>
            </a:extLst>
          </p:cNvPr>
          <p:cNvSpPr>
            <a:spLocks noGrp="1"/>
          </p:cNvSpPr>
          <p:nvPr>
            <p:ph type="dt" sz="half" idx="10"/>
          </p:nvPr>
        </p:nvSpPr>
        <p:spPr/>
        <p:txBody>
          <a:bodyPr/>
          <a:lstStyle/>
          <a:p>
            <a:fld id="{AFFCB25B-3E07-4109-9216-C5AA0A10054D}" type="datetimeFigureOut">
              <a:rPr lang="en-IN" smtClean="0"/>
              <a:t>21-10-2026</a:t>
            </a:fld>
            <a:endParaRPr lang="en-IN"/>
          </a:p>
        </p:txBody>
      </p:sp>
      <p:sp>
        <p:nvSpPr>
          <p:cNvPr id="6" name="Footer Placeholder 5">
            <a:extLst>
              <a:ext uri="{FF2B5EF4-FFF2-40B4-BE49-F238E27FC236}">
                <a16:creationId xmlns:a16="http://schemas.microsoft.com/office/drawing/2014/main" id="{A45E1C01-6C23-0458-B978-C4B1419F54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E48ACE-A513-3E0A-0C6B-283DB5A5D637}"/>
              </a:ext>
            </a:extLst>
          </p:cNvPr>
          <p:cNvSpPr>
            <a:spLocks noGrp="1"/>
          </p:cNvSpPr>
          <p:nvPr>
            <p:ph type="sldNum" sz="quarter" idx="12"/>
          </p:nvPr>
        </p:nvSpPr>
        <p:spPr/>
        <p:txBody>
          <a:bodyPr/>
          <a:lstStyle/>
          <a:p>
            <a:fld id="{9C76D430-29F5-425A-908E-736F5FBB96AE}" type="slidenum">
              <a:rPr lang="en-IN" smtClean="0"/>
              <a:t>‹#›</a:t>
            </a:fld>
            <a:endParaRPr lang="en-IN"/>
          </a:p>
        </p:txBody>
      </p:sp>
    </p:spTree>
    <p:extLst>
      <p:ext uri="{BB962C8B-B14F-4D97-AF65-F5344CB8AC3E}">
        <p14:creationId xmlns:p14="http://schemas.microsoft.com/office/powerpoint/2010/main" val="337385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DDE95-C4D6-0208-FF88-3D86EB9279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C791077-CD5C-8C66-161B-F1F72DCDED7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976A34E-B37B-373C-A362-624FF47626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A93D50-582F-1E57-E511-8776A26BA275}"/>
              </a:ext>
            </a:extLst>
          </p:cNvPr>
          <p:cNvSpPr>
            <a:spLocks noGrp="1"/>
          </p:cNvSpPr>
          <p:nvPr>
            <p:ph type="dt" sz="half" idx="10"/>
          </p:nvPr>
        </p:nvSpPr>
        <p:spPr/>
        <p:txBody>
          <a:bodyPr/>
          <a:lstStyle/>
          <a:p>
            <a:fld id="{AFFCB25B-3E07-4109-9216-C5AA0A10054D}" type="datetimeFigureOut">
              <a:rPr lang="en-IN" smtClean="0"/>
              <a:t>21-10-2026</a:t>
            </a:fld>
            <a:endParaRPr lang="en-IN"/>
          </a:p>
        </p:txBody>
      </p:sp>
      <p:sp>
        <p:nvSpPr>
          <p:cNvPr id="6" name="Footer Placeholder 5">
            <a:extLst>
              <a:ext uri="{FF2B5EF4-FFF2-40B4-BE49-F238E27FC236}">
                <a16:creationId xmlns:a16="http://schemas.microsoft.com/office/drawing/2014/main" id="{412FE6F3-416C-D9D0-06E7-7D4DC4B9EB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892CC2-8273-6F5C-183E-8ACD451649DA}"/>
              </a:ext>
            </a:extLst>
          </p:cNvPr>
          <p:cNvSpPr>
            <a:spLocks noGrp="1"/>
          </p:cNvSpPr>
          <p:nvPr>
            <p:ph type="sldNum" sz="quarter" idx="12"/>
          </p:nvPr>
        </p:nvSpPr>
        <p:spPr/>
        <p:txBody>
          <a:bodyPr/>
          <a:lstStyle/>
          <a:p>
            <a:fld id="{9C76D430-29F5-425A-908E-736F5FBB96AE}" type="slidenum">
              <a:rPr lang="en-IN" smtClean="0"/>
              <a:t>‹#›</a:t>
            </a:fld>
            <a:endParaRPr lang="en-IN"/>
          </a:p>
        </p:txBody>
      </p:sp>
    </p:spTree>
    <p:extLst>
      <p:ext uri="{BB962C8B-B14F-4D97-AF65-F5344CB8AC3E}">
        <p14:creationId xmlns:p14="http://schemas.microsoft.com/office/powerpoint/2010/main" val="2667270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01A67-99CA-6821-6E18-9E214F3B99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CA6870-F7AF-6B15-085D-334E7AF380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563E90-3E5D-CF4D-EED5-A047B5C73093}"/>
              </a:ext>
            </a:extLst>
          </p:cNvPr>
          <p:cNvSpPr>
            <a:spLocks noGrp="1"/>
          </p:cNvSpPr>
          <p:nvPr>
            <p:ph type="dt" sz="half" idx="10"/>
          </p:nvPr>
        </p:nvSpPr>
        <p:spPr/>
        <p:txBody>
          <a:bodyPr/>
          <a:lstStyle/>
          <a:p>
            <a:fld id="{AFFCB25B-3E07-4109-9216-C5AA0A10054D}" type="datetimeFigureOut">
              <a:rPr lang="en-IN" smtClean="0"/>
              <a:t>21-10-2026</a:t>
            </a:fld>
            <a:endParaRPr lang="en-IN"/>
          </a:p>
        </p:txBody>
      </p:sp>
      <p:sp>
        <p:nvSpPr>
          <p:cNvPr id="5" name="Footer Placeholder 4">
            <a:extLst>
              <a:ext uri="{FF2B5EF4-FFF2-40B4-BE49-F238E27FC236}">
                <a16:creationId xmlns:a16="http://schemas.microsoft.com/office/drawing/2014/main" id="{0A50B462-DBCB-620A-0C3B-0571427852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869D86-743C-BDEA-38EB-20FB58229DE4}"/>
              </a:ext>
            </a:extLst>
          </p:cNvPr>
          <p:cNvSpPr>
            <a:spLocks noGrp="1"/>
          </p:cNvSpPr>
          <p:nvPr>
            <p:ph type="sldNum" sz="quarter" idx="12"/>
          </p:nvPr>
        </p:nvSpPr>
        <p:spPr/>
        <p:txBody>
          <a:bodyPr/>
          <a:lstStyle/>
          <a:p>
            <a:fld id="{9C76D430-29F5-425A-908E-736F5FBB96AE}" type="slidenum">
              <a:rPr lang="en-IN" smtClean="0"/>
              <a:t>‹#›</a:t>
            </a:fld>
            <a:endParaRPr lang="en-IN"/>
          </a:p>
        </p:txBody>
      </p:sp>
    </p:spTree>
    <p:extLst>
      <p:ext uri="{BB962C8B-B14F-4D97-AF65-F5344CB8AC3E}">
        <p14:creationId xmlns:p14="http://schemas.microsoft.com/office/powerpoint/2010/main" val="2898621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6C941E-19AD-DC68-B5D2-118BB74CCC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F1A92D-E55C-6D02-19FD-E80E5EEF4F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1D44C3-4602-5DDE-2DEF-B5363740EAAA}"/>
              </a:ext>
            </a:extLst>
          </p:cNvPr>
          <p:cNvSpPr>
            <a:spLocks noGrp="1"/>
          </p:cNvSpPr>
          <p:nvPr>
            <p:ph type="dt" sz="half" idx="10"/>
          </p:nvPr>
        </p:nvSpPr>
        <p:spPr/>
        <p:txBody>
          <a:bodyPr/>
          <a:lstStyle/>
          <a:p>
            <a:fld id="{AFFCB25B-3E07-4109-9216-C5AA0A10054D}" type="datetimeFigureOut">
              <a:rPr lang="en-IN" smtClean="0"/>
              <a:t>21-10-2026</a:t>
            </a:fld>
            <a:endParaRPr lang="en-IN"/>
          </a:p>
        </p:txBody>
      </p:sp>
      <p:sp>
        <p:nvSpPr>
          <p:cNvPr id="5" name="Footer Placeholder 4">
            <a:extLst>
              <a:ext uri="{FF2B5EF4-FFF2-40B4-BE49-F238E27FC236}">
                <a16:creationId xmlns:a16="http://schemas.microsoft.com/office/drawing/2014/main" id="{F34112A7-B9A3-FEF2-6F0D-0BC88BA265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BDA067-6D6B-FC81-542B-5A30DBE93B77}"/>
              </a:ext>
            </a:extLst>
          </p:cNvPr>
          <p:cNvSpPr>
            <a:spLocks noGrp="1"/>
          </p:cNvSpPr>
          <p:nvPr>
            <p:ph type="sldNum" sz="quarter" idx="12"/>
          </p:nvPr>
        </p:nvSpPr>
        <p:spPr/>
        <p:txBody>
          <a:bodyPr/>
          <a:lstStyle/>
          <a:p>
            <a:fld id="{9C76D430-29F5-425A-908E-736F5FBB96AE}" type="slidenum">
              <a:rPr lang="en-IN" smtClean="0"/>
              <a:t>‹#›</a:t>
            </a:fld>
            <a:endParaRPr lang="en-IN"/>
          </a:p>
        </p:txBody>
      </p:sp>
    </p:spTree>
    <p:extLst>
      <p:ext uri="{BB962C8B-B14F-4D97-AF65-F5344CB8AC3E}">
        <p14:creationId xmlns:p14="http://schemas.microsoft.com/office/powerpoint/2010/main" val="2035141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87F71D-F682-2B94-58FE-0C73F9CFF1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E4F174-80EB-90CF-0917-795CB3B009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4D73EC-7D8A-D6F5-FF61-DDA37C65CE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FCB25B-3E07-4109-9216-C5AA0A10054D}" type="datetimeFigureOut">
              <a:rPr lang="en-IN" smtClean="0"/>
              <a:t>21-10-2026</a:t>
            </a:fld>
            <a:endParaRPr lang="en-IN"/>
          </a:p>
        </p:txBody>
      </p:sp>
      <p:sp>
        <p:nvSpPr>
          <p:cNvPr id="5" name="Footer Placeholder 4">
            <a:extLst>
              <a:ext uri="{FF2B5EF4-FFF2-40B4-BE49-F238E27FC236}">
                <a16:creationId xmlns:a16="http://schemas.microsoft.com/office/drawing/2014/main" id="{3E9E8F0C-5393-11A5-C6B3-72667746CD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CAB963F-38D9-40BF-9853-133EF8DDCB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76D430-29F5-425A-908E-736F5FBB96AE}" type="slidenum">
              <a:rPr lang="en-IN" smtClean="0"/>
              <a:t>‹#›</a:t>
            </a:fld>
            <a:endParaRPr lang="en-IN"/>
          </a:p>
        </p:txBody>
      </p:sp>
    </p:spTree>
    <p:extLst>
      <p:ext uri="{BB962C8B-B14F-4D97-AF65-F5344CB8AC3E}">
        <p14:creationId xmlns:p14="http://schemas.microsoft.com/office/powerpoint/2010/main" val="28918905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29A7E0-DAF3-9C93-D6DF-49794B1C1461}"/>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DEA0798-F101-EFA0-1942-BF3B1C81C538}"/>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01 / 17</a:t>
            </a:r>
            <a:endParaRPr lang="en-IN" sz="900">
              <a:solidFill>
                <a:srgbClr val="94A3B8"/>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56F4BA15-A1A7-889D-0238-B3D16C4DEA7C}"/>
              </a:ext>
            </a:extLst>
          </p:cNvPr>
          <p:cNvSpPr/>
          <p:nvPr/>
        </p:nvSpPr>
        <p:spPr>
          <a:xfrm>
            <a:off x="508000" y="457200"/>
            <a:ext cx="965200" cy="965200"/>
          </a:xfrm>
          <a:prstGeom prst="roundRect">
            <a:avLst/>
          </a:prstGeom>
          <a:solidFill>
            <a:srgbClr val="FFFFFF"/>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4CF91D5E-3423-4312-8CBB-275B8D5B1B1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58800" y="508000"/>
            <a:ext cx="863600" cy="863600"/>
          </a:xfrm>
          <a:prstGeom prst="rect">
            <a:avLst/>
          </a:prstGeom>
        </p:spPr>
      </p:pic>
      <p:sp>
        <p:nvSpPr>
          <p:cNvPr id="7" name="TextBox 6">
            <a:extLst>
              <a:ext uri="{FF2B5EF4-FFF2-40B4-BE49-F238E27FC236}">
                <a16:creationId xmlns:a16="http://schemas.microsoft.com/office/drawing/2014/main" id="{71C75B7E-F9A2-569A-C85F-696FDDF2FD0D}"/>
              </a:ext>
            </a:extLst>
          </p:cNvPr>
          <p:cNvSpPr txBox="1"/>
          <p:nvPr/>
        </p:nvSpPr>
        <p:spPr>
          <a:xfrm>
            <a:off x="1651000" y="457200"/>
            <a:ext cx="10033000" cy="430887"/>
          </a:xfrm>
          <a:prstGeom prst="rect">
            <a:avLst/>
          </a:prstGeom>
          <a:noFill/>
        </p:spPr>
        <p:txBody>
          <a:bodyPr vert="horz" wrap="square" lIns="0" tIns="0" rtlCol="0">
            <a:spAutoFit/>
          </a:bodyPr>
          <a:lstStyle/>
          <a:p>
            <a:r>
              <a:rPr lang="en-US" sz="1400" b="1">
                <a:solidFill>
                  <a:srgbClr val="F8FAFC"/>
                </a:solidFill>
                <a:latin typeface="Segoe UI" panose="020B0502040204020203" pitchFamily="34" charset="0"/>
              </a:rPr>
              <a:t>ATHARVA COLLEGE OF ENGINEERING</a:t>
            </a:r>
          </a:p>
          <a:p>
            <a:r>
              <a:rPr lang="en-US" sz="1100">
                <a:solidFill>
                  <a:srgbClr val="38BDF8"/>
                </a:solidFill>
                <a:latin typeface="Segoe UI" panose="020B0502040204020203" pitchFamily="34" charset="0"/>
              </a:rPr>
              <a:t>Department of Computer Engineering  |  University of Mumbai</a:t>
            </a:r>
            <a:endParaRPr lang="en-IN" sz="1100">
              <a:solidFill>
                <a:srgbClr val="38BDF8"/>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3255574D-F986-2DE9-10D5-A5432B71F7C8}"/>
              </a:ext>
            </a:extLst>
          </p:cNvPr>
          <p:cNvSpPr/>
          <p:nvPr/>
        </p:nvSpPr>
        <p:spPr>
          <a:xfrm>
            <a:off x="508000" y="1651000"/>
            <a:ext cx="5334000" cy="3302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a:solidFill>
                  <a:srgbClr val="10B981"/>
                </a:solidFill>
                <a:latin typeface="Segoe UI" panose="020B0502040204020203" pitchFamily="34" charset="0"/>
              </a:rPr>
              <a:t>B.E. CAPSTONE PROJECT PRESENTATION (SEMESTER V • 2025–26)</a:t>
            </a:r>
          </a:p>
        </p:txBody>
      </p:sp>
      <p:sp>
        <p:nvSpPr>
          <p:cNvPr id="9" name="TextBox 8">
            <a:extLst>
              <a:ext uri="{FF2B5EF4-FFF2-40B4-BE49-F238E27FC236}">
                <a16:creationId xmlns:a16="http://schemas.microsoft.com/office/drawing/2014/main" id="{84ECEAF9-5032-37E6-28BB-2E4A1BFA5C93}"/>
              </a:ext>
            </a:extLst>
          </p:cNvPr>
          <p:cNvSpPr txBox="1"/>
          <p:nvPr/>
        </p:nvSpPr>
        <p:spPr>
          <a:xfrm>
            <a:off x="508000" y="2095500"/>
            <a:ext cx="11176000" cy="692497"/>
          </a:xfrm>
          <a:prstGeom prst="rect">
            <a:avLst/>
          </a:prstGeom>
          <a:noFill/>
        </p:spPr>
        <p:txBody>
          <a:bodyPr vert="horz" wrap="square" lIns="0" tIns="0" rtlCol="0">
            <a:spAutoFit/>
          </a:bodyPr>
          <a:lstStyle/>
          <a:p>
            <a:r>
              <a:rPr lang="en-IN" sz="4200" b="1">
                <a:solidFill>
                  <a:srgbClr val="F8FAFC"/>
                </a:solidFill>
                <a:latin typeface="Trebuchet MS" panose="020B0603020202020204" pitchFamily="34" charset="0"/>
              </a:rPr>
              <a:t>FOOTBALL VISION AI</a:t>
            </a:r>
          </a:p>
        </p:txBody>
      </p:sp>
      <p:sp>
        <p:nvSpPr>
          <p:cNvPr id="10" name="TextBox 9">
            <a:extLst>
              <a:ext uri="{FF2B5EF4-FFF2-40B4-BE49-F238E27FC236}">
                <a16:creationId xmlns:a16="http://schemas.microsoft.com/office/drawing/2014/main" id="{BD63FEA8-8089-AA7D-02AE-6F4BC04C7728}"/>
              </a:ext>
            </a:extLst>
          </p:cNvPr>
          <p:cNvSpPr txBox="1"/>
          <p:nvPr/>
        </p:nvSpPr>
        <p:spPr>
          <a:xfrm>
            <a:off x="508000" y="2984500"/>
            <a:ext cx="11176000" cy="276999"/>
          </a:xfrm>
          <a:prstGeom prst="rect">
            <a:avLst/>
          </a:prstGeom>
          <a:noFill/>
        </p:spPr>
        <p:txBody>
          <a:bodyPr vert="horz" wrap="square" lIns="0" tIns="0" rtlCol="0">
            <a:spAutoFit/>
          </a:bodyPr>
          <a:lstStyle/>
          <a:p>
            <a:r>
              <a:rPr lang="en-US" sz="1500" b="1">
                <a:solidFill>
                  <a:srgbClr val="38BDF8"/>
                </a:solidFill>
                <a:latin typeface="Segoe UI" panose="020B0502040204020203" pitchFamily="34" charset="0"/>
              </a:rPr>
              <a:t>Computer Vision &amp; IoT-Powered Autonomous Video Assistant Referee (VAR) &amp; Tactical Match Studio</a:t>
            </a:r>
            <a:endParaRPr lang="en-IN" sz="1500" b="1">
              <a:solidFill>
                <a:srgbClr val="38BDF8"/>
              </a:solidFill>
              <a:latin typeface="Segoe UI" panose="020B0502040204020203" pitchFamily="34" charset="0"/>
            </a:endParaRPr>
          </a:p>
        </p:txBody>
      </p:sp>
      <p:sp>
        <p:nvSpPr>
          <p:cNvPr id="11" name="Rectangle 10">
            <a:extLst>
              <a:ext uri="{FF2B5EF4-FFF2-40B4-BE49-F238E27FC236}">
                <a16:creationId xmlns:a16="http://schemas.microsoft.com/office/drawing/2014/main" id="{D65955BF-DAD9-7FD1-E9AF-A0F232C58B98}"/>
              </a:ext>
            </a:extLst>
          </p:cNvPr>
          <p:cNvSpPr/>
          <p:nvPr/>
        </p:nvSpPr>
        <p:spPr>
          <a:xfrm>
            <a:off x="508000" y="3683000"/>
            <a:ext cx="11176000" cy="12700"/>
          </a:xfrm>
          <a:prstGeom prst="rect">
            <a:avLst/>
          </a:prstGeom>
          <a:solidFill>
            <a:srgbClr val="2D447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12BD2D24-408A-2D8E-FD0F-3C261CCB0802}"/>
              </a:ext>
            </a:extLst>
          </p:cNvPr>
          <p:cNvSpPr/>
          <p:nvPr/>
        </p:nvSpPr>
        <p:spPr>
          <a:xfrm>
            <a:off x="508000" y="3937000"/>
            <a:ext cx="5461000" cy="2286000"/>
          </a:xfrm>
          <a:prstGeom prst="roundRect">
            <a:avLst/>
          </a:prstGeom>
          <a:solidFill>
            <a:srgbClr val="141F3E"/>
          </a:solidFill>
          <a:ln w="1524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38BDF8"/>
                </a:solidFill>
                <a:latin typeface="Segoe UI" panose="020B0502040204020203" pitchFamily="34" charset="0"/>
              </a:rPr>
              <a:t>PRESENTED BY:</a:t>
            </a:r>
          </a:p>
          <a:p>
            <a:pPr>
              <a:spcBef>
                <a:spcPts val="300"/>
              </a:spcBef>
            </a:pPr>
            <a:r>
              <a:rPr lang="en-IN" sz="1000">
                <a:solidFill>
                  <a:srgbClr val="F8FAFC"/>
                </a:solidFill>
                <a:latin typeface="Segoe UI" panose="020B0502040204020203" pitchFamily="34" charset="0"/>
              </a:rPr>
              <a:t>• Mann Sutariya  (Roll No: 47, TE CMPN-2)</a:t>
            </a:r>
          </a:p>
          <a:p>
            <a:pPr>
              <a:spcBef>
                <a:spcPts val="300"/>
              </a:spcBef>
            </a:pPr>
            <a:r>
              <a:rPr lang="en-IN" sz="1000">
                <a:solidFill>
                  <a:srgbClr val="F8FAFC"/>
                </a:solidFill>
                <a:latin typeface="Segoe UI" panose="020B0502040204020203" pitchFamily="34" charset="0"/>
              </a:rPr>
              <a:t>• Tejas Walanj    (Roll No: 55, TE CMPN-2)</a:t>
            </a:r>
          </a:p>
          <a:p>
            <a:pPr>
              <a:spcBef>
                <a:spcPts val="300"/>
              </a:spcBef>
            </a:pPr>
            <a:r>
              <a:rPr lang="en-IN" sz="1000">
                <a:solidFill>
                  <a:srgbClr val="F8FAFC"/>
                </a:solidFill>
                <a:latin typeface="Segoe UI" panose="020B0502040204020203" pitchFamily="34" charset="0"/>
              </a:rPr>
              <a:t>• Karan Sonar     (Roll No: 44, TE CMPN-2)</a:t>
            </a:r>
          </a:p>
          <a:p>
            <a:pPr>
              <a:spcBef>
                <a:spcPts val="300"/>
              </a:spcBef>
            </a:pPr>
            <a:r>
              <a:rPr lang="en-IN" sz="1000">
                <a:solidFill>
                  <a:srgbClr val="F8FAFC"/>
                </a:solidFill>
                <a:latin typeface="Segoe UI" panose="020B0502040204020203" pitchFamily="34" charset="0"/>
              </a:rPr>
              <a:t>• Yashwin Rajpurohit (Roll No: 09, TE CMPN-2)</a:t>
            </a:r>
          </a:p>
        </p:txBody>
      </p:sp>
      <p:sp>
        <p:nvSpPr>
          <p:cNvPr id="13" name="Rectangle: Rounded Corners 12">
            <a:extLst>
              <a:ext uri="{FF2B5EF4-FFF2-40B4-BE49-F238E27FC236}">
                <a16:creationId xmlns:a16="http://schemas.microsoft.com/office/drawing/2014/main" id="{9B6E1121-5782-E643-A543-51F654B01009}"/>
              </a:ext>
            </a:extLst>
          </p:cNvPr>
          <p:cNvSpPr/>
          <p:nvPr/>
        </p:nvSpPr>
        <p:spPr>
          <a:xfrm>
            <a:off x="6223000" y="3937000"/>
            <a:ext cx="5461000" cy="22860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10B981"/>
                </a:solidFill>
                <a:latin typeface="Segoe UI" panose="020B0502040204020203" pitchFamily="34" charset="0"/>
              </a:rPr>
              <a:t>PROJECT GUIDANCE &amp; AFFILIATION:</a:t>
            </a:r>
          </a:p>
          <a:p>
            <a:pPr>
              <a:spcBef>
                <a:spcPts val="300"/>
              </a:spcBef>
            </a:pPr>
            <a:r>
              <a:rPr lang="en-IN" sz="1000">
                <a:solidFill>
                  <a:srgbClr val="F8FAFC"/>
                </a:solidFill>
                <a:latin typeface="Segoe UI" panose="020B0502040204020203" pitchFamily="34" charset="0"/>
              </a:rPr>
              <a:t>Project Guide: Prof. Varsha Patil (Assistant Professor)</a:t>
            </a:r>
          </a:p>
          <a:p>
            <a:pPr>
              <a:spcBef>
                <a:spcPts val="300"/>
              </a:spcBef>
            </a:pPr>
            <a:r>
              <a:rPr lang="en-IN" sz="1000">
                <a:solidFill>
                  <a:srgbClr val="F8FAFC"/>
                </a:solidFill>
                <a:latin typeface="Segoe UI" panose="020B0502040204020203" pitchFamily="34" charset="0"/>
              </a:rPr>
              <a:t>Head of Department: Prof. Mahendra Patil</a:t>
            </a:r>
          </a:p>
          <a:p>
            <a:pPr>
              <a:spcBef>
                <a:spcPts val="300"/>
              </a:spcBef>
            </a:pPr>
            <a:r>
              <a:rPr lang="en-IN" sz="1000">
                <a:solidFill>
                  <a:srgbClr val="F8FAFC"/>
                </a:solidFill>
                <a:latin typeface="Segoe UI" panose="020B0502040204020203" pitchFamily="34" charset="0"/>
              </a:rPr>
              <a:t>Principal: Dr. Ramesh Kulkarni</a:t>
            </a:r>
          </a:p>
          <a:p>
            <a:pPr>
              <a:spcBef>
                <a:spcPts val="300"/>
              </a:spcBef>
            </a:pPr>
            <a:r>
              <a:rPr lang="en-IN" sz="1000">
                <a:solidFill>
                  <a:srgbClr val="F8FAFC"/>
                </a:solidFill>
                <a:latin typeface="Segoe UI" panose="020B0502040204020203" pitchFamily="34" charset="0"/>
              </a:rPr>
              <a:t>Department of Computer Engineering, Atharva College of Engineering</a:t>
            </a:r>
          </a:p>
        </p:txBody>
      </p:sp>
    </p:spTree>
    <p:extLst>
      <p:ext uri="{BB962C8B-B14F-4D97-AF65-F5344CB8AC3E}">
        <p14:creationId xmlns:p14="http://schemas.microsoft.com/office/powerpoint/2010/main" val="1439368167"/>
      </p:ext>
    </p:extLst>
  </p:cSld>
  <p:clrMapOvr>
    <a:masterClrMapping/>
  </p:clrMapOvr>
  <p:transition spd="slow">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500"/>
                                        <p:tgtEl>
                                          <p:spTgt spid="4"/>
                                        </p:tgtEl>
                                      </p:cBhvr>
                                    </p:animEffect>
                                  </p:childTnLst>
                                </p:cTn>
                              </p:par>
                              <p:par>
                                <p:cTn id="8" presetID="6" presetClass="entr" presetSubtype="16"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500"/>
                                        <p:tgtEl>
                                          <p:spTgt spid="6"/>
                                        </p:tgtEl>
                                      </p:cBhvr>
                                    </p:animEffect>
                                  </p:childTnLst>
                                </p:cTn>
                              </p:par>
                              <p:par>
                                <p:cTn id="11" presetID="2" presetClass="entr" presetSubtype="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0-#ppt_h/2"/>
                                          </p:val>
                                        </p:tav>
                                        <p:tav tm="100000">
                                          <p:val>
                                            <p:strVal val="#ppt_y"/>
                                          </p:val>
                                        </p:tav>
                                      </p:tavLst>
                                    </p:anim>
                                  </p:childTnLst>
                                </p:cTn>
                              </p:par>
                              <p:par>
                                <p:cTn id="15" presetID="2" presetClass="entr" presetSubtype="8" fill="hold" grpId="0" nodeType="withEffect">
                                  <p:stCondLst>
                                    <p:cond delay="10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1" fill="hold" grpId="0" nodeType="withEffect">
                                  <p:stCondLst>
                                    <p:cond delay="20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0-#ppt_h/2"/>
                                          </p:val>
                                        </p:tav>
                                        <p:tav tm="100000">
                                          <p:val>
                                            <p:strVal val="#ppt_y"/>
                                          </p:val>
                                        </p:tav>
                                      </p:tavLst>
                                    </p:anim>
                                  </p:childTnLst>
                                </p:cTn>
                              </p:par>
                              <p:par>
                                <p:cTn id="23" presetID="28" presetClass="entr" presetSubtype="0" fill="hold" grpId="0" nodeType="withEffect">
                                  <p:stCondLst>
                                    <p:cond delay="300"/>
                                  </p:stCondLst>
                                  <p:childTnLst>
                                    <p:set>
                                      <p:cBhvr>
                                        <p:cTn id="24" dur="1" fill="hold">
                                          <p:stCondLst>
                                            <p:cond delay="0"/>
                                          </p:stCondLst>
                                        </p:cTn>
                                        <p:tgtEl>
                                          <p:spTgt spid="10"/>
                                        </p:tgtEl>
                                        <p:attrNameLst>
                                          <p:attrName>style.visibility</p:attrName>
                                        </p:attrNameLst>
                                      </p:cBhvr>
                                      <p:to>
                                        <p:strVal val="visible"/>
                                      </p:to>
                                    </p:set>
                                    <p:anim calcmode="lin" valueType="num">
                                      <p:cBhvr>
                                        <p:cTn id="25" dur="400" fill="hold"/>
                                        <p:tgtEl>
                                          <p:spTgt spid="10"/>
                                        </p:tgtEl>
                                        <p:attrNameLst>
                                          <p:attrName>ppt_x</p:attrName>
                                        </p:attrNameLst>
                                      </p:cBhvr>
                                      <p:tavLst>
                                        <p:tav tm="0">
                                          <p:val>
                                            <p:strVal val="#ppt_x"/>
                                          </p:val>
                                        </p:tav>
                                        <p:tav tm="100000">
                                          <p:val>
                                            <p:strVal val="#ppt_x"/>
                                          </p:val>
                                        </p:tav>
                                      </p:tavLst>
                                    </p:anim>
                                    <p:anim calcmode="lin" valueType="num">
                                      <p:cBhvr>
                                        <p:cTn id="26" dur="400" fill="hold"/>
                                        <p:tgtEl>
                                          <p:spTgt spid="10"/>
                                        </p:tgtEl>
                                        <p:attrNameLst>
                                          <p:attrName>ppt_y</p:attrName>
                                        </p:attrNameLst>
                                      </p:cBhvr>
                                      <p:tavLst>
                                        <p:tav tm="0">
                                          <p:val>
                                            <p:strVal val="#ppt_y+1"/>
                                          </p:val>
                                        </p:tav>
                                        <p:tav tm="100000">
                                          <p:val>
                                            <p:strVal val="#ppt_y-1"/>
                                          </p:val>
                                        </p:tav>
                                      </p:tavLst>
                                    </p:anim>
                                  </p:childTnLst>
                                </p:cTn>
                              </p:par>
                              <p:par>
                                <p:cTn id="27" presetID="2" presetClass="entr" presetSubtype="8" fill="hold" grpId="0" nodeType="withEffect">
                                  <p:stCondLst>
                                    <p:cond delay="40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0-#ppt_w/2"/>
                                          </p:val>
                                        </p:tav>
                                        <p:tav tm="100000">
                                          <p:val>
                                            <p:strVal val="#ppt_x"/>
                                          </p:val>
                                        </p:tav>
                                      </p:tavLst>
                                    </p:anim>
                                    <p:anim calcmode="lin" valueType="num">
                                      <p:cBhvr additive="base">
                                        <p:cTn id="30" dur="500" fill="hold"/>
                                        <p:tgtEl>
                                          <p:spTgt spid="12"/>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50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1+#ppt_w/2"/>
                                          </p:val>
                                        </p:tav>
                                        <p:tav tm="100000">
                                          <p:val>
                                            <p:strVal val="#ppt_x"/>
                                          </p:val>
                                        </p:tav>
                                      </p:tavLst>
                                    </p:anim>
                                    <p:anim calcmode="lin" valueType="num">
                                      <p:cBhvr additive="base">
                                        <p:cTn id="3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animBg="1"/>
      <p:bldP spid="9" grpId="0"/>
      <p:bldP spid="10" grpId="0"/>
      <p:bldP spid="12"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E37921-BDEC-01AC-821E-60291B9BF720}"/>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ED70289A-6CF7-A2F9-D969-D50C498DBAE1}"/>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02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17036DDD-C5A2-5D0E-7B44-3863300CECEA}"/>
              </a:ext>
            </a:extLst>
          </p:cNvPr>
          <p:cNvSpPr txBox="1"/>
          <p:nvPr/>
        </p:nvSpPr>
        <p:spPr>
          <a:xfrm>
            <a:off x="508000" y="381000"/>
            <a:ext cx="11176000" cy="384721"/>
          </a:xfrm>
          <a:prstGeom prst="rect">
            <a:avLst/>
          </a:prstGeom>
          <a:noFill/>
        </p:spPr>
        <p:txBody>
          <a:bodyPr vert="horz" wrap="square" lIns="0" tIns="0" rtlCol="0">
            <a:spAutoFit/>
          </a:bodyPr>
          <a:lstStyle/>
          <a:p>
            <a:r>
              <a:rPr lang="en-IN" sz="2200" b="1">
                <a:solidFill>
                  <a:srgbClr val="F8FAFC"/>
                </a:solidFill>
                <a:latin typeface="Segoe UI" panose="020B0502040204020203" pitchFamily="34" charset="0"/>
              </a:rPr>
              <a:t>Presentation Outline</a:t>
            </a:r>
          </a:p>
        </p:txBody>
      </p:sp>
      <p:sp>
        <p:nvSpPr>
          <p:cNvPr id="5" name="TextBox 4">
            <a:extLst>
              <a:ext uri="{FF2B5EF4-FFF2-40B4-BE49-F238E27FC236}">
                <a16:creationId xmlns:a16="http://schemas.microsoft.com/office/drawing/2014/main" id="{7DFC338B-E7C6-5F95-23BE-D82D463E0897}"/>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Structured Roadmap of the Capstone Project Presentation</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C3F6F622-92EB-B0A3-F813-B4B58C610435}"/>
              </a:ext>
            </a:extLst>
          </p:cNvPr>
          <p:cNvSpPr/>
          <p:nvPr/>
        </p:nvSpPr>
        <p:spPr>
          <a:xfrm>
            <a:off x="508000" y="1397000"/>
            <a:ext cx="5461000" cy="825500"/>
          </a:xfrm>
          <a:prstGeom prst="roundRect">
            <a:avLst/>
          </a:prstGeom>
          <a:solidFill>
            <a:srgbClr val="141F3E"/>
          </a:solidFill>
          <a:ln w="1270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tlCol="0" anchor="t"/>
          <a:lstStyle/>
          <a:p>
            <a:r>
              <a:rPr lang="en-US" sz="1300" b="1">
                <a:solidFill>
                  <a:srgbClr val="38BDF8"/>
                </a:solidFill>
                <a:latin typeface="Segoe UI" panose="020B0502040204020203" pitchFamily="34" charset="0"/>
              </a:rPr>
              <a:t>01. Introduction &amp; Background</a:t>
            </a:r>
          </a:p>
          <a:p>
            <a:pPr>
              <a:spcBef>
                <a:spcPts val="200"/>
              </a:spcBef>
            </a:pPr>
            <a:r>
              <a:rPr lang="en-US" sz="1000">
                <a:solidFill>
                  <a:srgbClr val="94A3B8"/>
                </a:solidFill>
                <a:latin typeface="Segoe UI" panose="020B0502040204020203" pitchFamily="34" charset="0"/>
              </a:rPr>
              <a:t>Context of association football officiating and technological necessity</a:t>
            </a:r>
            <a:endParaRPr lang="en-IN" sz="1000">
              <a:solidFill>
                <a:srgbClr val="94A3B8"/>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5D518C27-32C7-BB76-0138-3D45FADFDB1F}"/>
              </a:ext>
            </a:extLst>
          </p:cNvPr>
          <p:cNvSpPr/>
          <p:nvPr/>
        </p:nvSpPr>
        <p:spPr>
          <a:xfrm>
            <a:off x="508000" y="2349500"/>
            <a:ext cx="5461000" cy="825500"/>
          </a:xfrm>
          <a:prstGeom prst="roundRect">
            <a:avLst/>
          </a:prstGeom>
          <a:solidFill>
            <a:srgbClr val="141F3E"/>
          </a:solidFill>
          <a:ln w="1270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tlCol="0" anchor="t"/>
          <a:lstStyle/>
          <a:p>
            <a:r>
              <a:rPr lang="en-US" sz="1300" b="1">
                <a:solidFill>
                  <a:srgbClr val="38BDF8"/>
                </a:solidFill>
                <a:latin typeface="Segoe UI" panose="020B0502040204020203" pitchFamily="34" charset="0"/>
              </a:rPr>
              <a:t>02. Motivation &amp; Problem Statement</a:t>
            </a:r>
          </a:p>
          <a:p>
            <a:pPr>
              <a:spcBef>
                <a:spcPts val="200"/>
              </a:spcBef>
            </a:pPr>
            <a:r>
              <a:rPr lang="en-US" sz="1000">
                <a:solidFill>
                  <a:srgbClr val="94A3B8"/>
                </a:solidFill>
                <a:latin typeface="Segoe UI" panose="020B0502040204020203" pitchFamily="34" charset="0"/>
              </a:rPr>
              <a:t>Shortcomings in manual video review and economic inaccessibility</a:t>
            </a:r>
            <a:endParaRPr lang="en-IN" sz="1000">
              <a:solidFill>
                <a:srgbClr val="94A3B8"/>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C9E02122-82EB-7EC7-5925-327CCD4BA01E}"/>
              </a:ext>
            </a:extLst>
          </p:cNvPr>
          <p:cNvSpPr/>
          <p:nvPr/>
        </p:nvSpPr>
        <p:spPr>
          <a:xfrm>
            <a:off x="508000" y="3302000"/>
            <a:ext cx="5461000" cy="825500"/>
          </a:xfrm>
          <a:prstGeom prst="roundRect">
            <a:avLst/>
          </a:prstGeom>
          <a:solidFill>
            <a:srgbClr val="141F3E"/>
          </a:solidFill>
          <a:ln w="1270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tlCol="0" anchor="t"/>
          <a:lstStyle/>
          <a:p>
            <a:r>
              <a:rPr lang="en-US" sz="1300" b="1">
                <a:solidFill>
                  <a:srgbClr val="38BDF8"/>
                </a:solidFill>
                <a:latin typeface="Segoe UI" panose="020B0502040204020203" pitchFamily="34" charset="0"/>
              </a:rPr>
              <a:t>03. Literature Survey</a:t>
            </a:r>
          </a:p>
          <a:p>
            <a:pPr>
              <a:spcBef>
                <a:spcPts val="200"/>
              </a:spcBef>
            </a:pPr>
            <a:r>
              <a:rPr lang="en-US" sz="1000">
                <a:solidFill>
                  <a:srgbClr val="94A3B8"/>
                </a:solidFill>
                <a:latin typeface="Segoe UI" panose="020B0502040204020203" pitchFamily="34" charset="0"/>
              </a:rPr>
              <a:t>Evaluation of 4 foundational research papers and benchmark matrix</a:t>
            </a:r>
            <a:endParaRPr lang="en-IN" sz="1000">
              <a:solidFill>
                <a:srgbClr val="94A3B8"/>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04A18955-C81B-C50E-79C2-4CD138154AFB}"/>
              </a:ext>
            </a:extLst>
          </p:cNvPr>
          <p:cNvSpPr/>
          <p:nvPr/>
        </p:nvSpPr>
        <p:spPr>
          <a:xfrm>
            <a:off x="508000" y="4254500"/>
            <a:ext cx="5461000" cy="825500"/>
          </a:xfrm>
          <a:prstGeom prst="roundRect">
            <a:avLst/>
          </a:prstGeom>
          <a:solidFill>
            <a:srgbClr val="141F3E"/>
          </a:solidFill>
          <a:ln w="1270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tlCol="0" anchor="t"/>
          <a:lstStyle/>
          <a:p>
            <a:r>
              <a:rPr lang="en-US" sz="1300" b="1">
                <a:solidFill>
                  <a:srgbClr val="38BDF8"/>
                </a:solidFill>
                <a:latin typeface="Segoe UI" panose="020B0502040204020203" pitchFamily="34" charset="0"/>
              </a:rPr>
              <a:t>04. Research Aim &amp; Objectives</a:t>
            </a:r>
          </a:p>
          <a:p>
            <a:pPr>
              <a:spcBef>
                <a:spcPts val="200"/>
              </a:spcBef>
            </a:pPr>
            <a:r>
              <a:rPr lang="en-US" sz="1000">
                <a:solidFill>
                  <a:srgbClr val="94A3B8"/>
                </a:solidFill>
                <a:latin typeface="Segoe UI" panose="020B0502040204020203" pitchFamily="34" charset="0"/>
              </a:rPr>
              <a:t>Specific, measurable targets prescribed for the project</a:t>
            </a:r>
            <a:endParaRPr lang="en-IN" sz="1000">
              <a:solidFill>
                <a:srgbClr val="94A3B8"/>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63287F23-0923-98BE-631C-075541C61E6D}"/>
              </a:ext>
            </a:extLst>
          </p:cNvPr>
          <p:cNvSpPr/>
          <p:nvPr/>
        </p:nvSpPr>
        <p:spPr>
          <a:xfrm>
            <a:off x="508000" y="5207000"/>
            <a:ext cx="5461000" cy="825500"/>
          </a:xfrm>
          <a:prstGeom prst="roundRect">
            <a:avLst/>
          </a:prstGeom>
          <a:solidFill>
            <a:srgbClr val="141F3E"/>
          </a:solidFill>
          <a:ln w="1270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tlCol="0" anchor="t"/>
          <a:lstStyle/>
          <a:p>
            <a:r>
              <a:rPr lang="en-US" sz="1300" b="1">
                <a:solidFill>
                  <a:srgbClr val="38BDF8"/>
                </a:solidFill>
                <a:latin typeface="Segoe UI" panose="020B0502040204020203" pitchFamily="34" charset="0"/>
              </a:rPr>
              <a:t>05. Proposed System Architecture</a:t>
            </a:r>
          </a:p>
          <a:p>
            <a:pPr>
              <a:spcBef>
                <a:spcPts val="200"/>
              </a:spcBef>
            </a:pPr>
            <a:r>
              <a:rPr lang="en-US" sz="1000">
                <a:solidFill>
                  <a:srgbClr val="94A3B8"/>
                </a:solidFill>
                <a:latin typeface="Segoe UI" panose="020B0502040204020203" pitchFamily="34" charset="0"/>
              </a:rPr>
              <a:t>Decoupled three-tier architecture and 6-step system workflow</a:t>
            </a:r>
            <a:endParaRPr lang="en-IN" sz="1000">
              <a:solidFill>
                <a:srgbClr val="94A3B8"/>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191FADB9-834E-2B3E-4754-DA5726302568}"/>
              </a:ext>
            </a:extLst>
          </p:cNvPr>
          <p:cNvSpPr/>
          <p:nvPr/>
        </p:nvSpPr>
        <p:spPr>
          <a:xfrm>
            <a:off x="6223000" y="1397000"/>
            <a:ext cx="5461000" cy="825500"/>
          </a:xfrm>
          <a:prstGeom prst="roundRect">
            <a:avLst/>
          </a:prstGeom>
          <a:solidFill>
            <a:srgbClr val="141F3E"/>
          </a:solidFill>
          <a:ln w="1270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tlCol="0" anchor="t"/>
          <a:lstStyle/>
          <a:p>
            <a:r>
              <a:rPr lang="en-US" sz="1300" b="1">
                <a:solidFill>
                  <a:srgbClr val="38BDF8"/>
                </a:solidFill>
                <a:latin typeface="Segoe UI" panose="020B0502040204020203" pitchFamily="34" charset="0"/>
              </a:rPr>
              <a:t>06. Computer Vision Methodology</a:t>
            </a:r>
          </a:p>
          <a:p>
            <a:pPr>
              <a:spcBef>
                <a:spcPts val="200"/>
              </a:spcBef>
            </a:pPr>
            <a:r>
              <a:rPr lang="en-US" sz="1000">
                <a:solidFill>
                  <a:srgbClr val="94A3B8"/>
                </a:solidFill>
                <a:latin typeface="Segoe UI" panose="020B0502040204020203" pitchFamily="34" charset="0"/>
              </a:rPr>
              <a:t>MOG2 background subtraction, circularity heuristics &amp; boundary detection</a:t>
            </a:r>
            <a:endParaRPr lang="en-IN" sz="1000">
              <a:solidFill>
                <a:srgbClr val="94A3B8"/>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44532B7E-C487-B8E4-84E3-C9F37B360011}"/>
              </a:ext>
            </a:extLst>
          </p:cNvPr>
          <p:cNvSpPr/>
          <p:nvPr/>
        </p:nvSpPr>
        <p:spPr>
          <a:xfrm>
            <a:off x="6223000" y="2349500"/>
            <a:ext cx="5461000" cy="825500"/>
          </a:xfrm>
          <a:prstGeom prst="roundRect">
            <a:avLst/>
          </a:prstGeom>
          <a:solidFill>
            <a:srgbClr val="141F3E"/>
          </a:solidFill>
          <a:ln w="1270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tlCol="0" anchor="t"/>
          <a:lstStyle/>
          <a:p>
            <a:r>
              <a:rPr lang="en-US" sz="1300" b="1">
                <a:solidFill>
                  <a:srgbClr val="38BDF8"/>
                </a:solidFill>
                <a:latin typeface="Segoe UI" panose="020B0502040204020203" pitchFamily="34" charset="0"/>
              </a:rPr>
              <a:t>07. Multi-Player &amp; Collision Engine</a:t>
            </a:r>
          </a:p>
          <a:p>
            <a:pPr>
              <a:spcBef>
                <a:spcPts val="200"/>
              </a:spcBef>
            </a:pPr>
            <a:r>
              <a:rPr lang="en-US" sz="1000">
                <a:solidFill>
                  <a:srgbClr val="94A3B8"/>
                </a:solidFill>
                <a:latin typeface="Segoe UI" panose="020B0502040204020203" pitchFamily="34" charset="0"/>
              </a:rPr>
              <a:t>Centroid tracking, convex hull filtering, and 18-yard box safety</a:t>
            </a:r>
            <a:endParaRPr lang="en-IN" sz="1000">
              <a:solidFill>
                <a:srgbClr val="94A3B8"/>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7F8FB15A-B0FB-93DB-548A-ECDA13EC4F83}"/>
              </a:ext>
            </a:extLst>
          </p:cNvPr>
          <p:cNvSpPr/>
          <p:nvPr/>
        </p:nvSpPr>
        <p:spPr>
          <a:xfrm>
            <a:off x="6223000" y="3302000"/>
            <a:ext cx="5461000" cy="825500"/>
          </a:xfrm>
          <a:prstGeom prst="roundRect">
            <a:avLst/>
          </a:prstGeom>
          <a:solidFill>
            <a:srgbClr val="141F3E"/>
          </a:solidFill>
          <a:ln w="1270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tlCol="0" anchor="t"/>
          <a:lstStyle/>
          <a:p>
            <a:r>
              <a:rPr lang="en-US" sz="1300" b="1">
                <a:solidFill>
                  <a:srgbClr val="38BDF8"/>
                </a:solidFill>
                <a:latin typeface="Segoe UI" panose="020B0502040204020203" pitchFamily="34" charset="0"/>
              </a:rPr>
              <a:t>08. Disciplinary Cards &amp; Heatmaps</a:t>
            </a:r>
          </a:p>
          <a:p>
            <a:pPr>
              <a:spcBef>
                <a:spcPts val="200"/>
              </a:spcBef>
            </a:pPr>
            <a:r>
              <a:rPr lang="en-US" sz="1000">
                <a:solidFill>
                  <a:srgbClr val="94A3B8"/>
                </a:solidFill>
                <a:latin typeface="Segoe UI" panose="020B0502040204020203" pitchFamily="34" charset="0"/>
              </a:rPr>
              <a:t>HSV color segmentation and temporal exponential decay canvases</a:t>
            </a:r>
            <a:endParaRPr lang="en-IN" sz="1000">
              <a:solidFill>
                <a:srgbClr val="94A3B8"/>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04592C82-1AA9-1858-DC83-C79A20503F5F}"/>
              </a:ext>
            </a:extLst>
          </p:cNvPr>
          <p:cNvSpPr/>
          <p:nvPr/>
        </p:nvSpPr>
        <p:spPr>
          <a:xfrm>
            <a:off x="6223000" y="4254500"/>
            <a:ext cx="5461000" cy="825500"/>
          </a:xfrm>
          <a:prstGeom prst="roundRect">
            <a:avLst/>
          </a:prstGeom>
          <a:solidFill>
            <a:srgbClr val="141F3E"/>
          </a:solidFill>
          <a:ln w="1270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tlCol="0" anchor="t"/>
          <a:lstStyle/>
          <a:p>
            <a:r>
              <a:rPr lang="en-US" sz="1300" b="1">
                <a:solidFill>
                  <a:srgbClr val="38BDF8"/>
                </a:solidFill>
                <a:latin typeface="Segoe UI" panose="020B0502040204020203" pitchFamily="34" charset="0"/>
              </a:rPr>
              <a:t>09. Implementation &amp; Results</a:t>
            </a:r>
          </a:p>
          <a:p>
            <a:pPr>
              <a:spcBef>
                <a:spcPts val="200"/>
              </a:spcBef>
            </a:pPr>
            <a:r>
              <a:rPr lang="en-US" sz="1000">
                <a:solidFill>
                  <a:srgbClr val="94A3B8"/>
                </a:solidFill>
                <a:latin typeface="Segoe UI" panose="020B0502040204020203" pitchFamily="34" charset="0"/>
              </a:rPr>
              <a:t>React HUD, FastAPI performance benchmarks, and empirical test cases</a:t>
            </a:r>
            <a:endParaRPr lang="en-IN" sz="1000">
              <a:solidFill>
                <a:srgbClr val="94A3B8"/>
              </a:solidFill>
              <a:latin typeface="Segoe UI" panose="020B0502040204020203" pitchFamily="34" charset="0"/>
            </a:endParaRPr>
          </a:p>
        </p:txBody>
      </p:sp>
      <p:sp>
        <p:nvSpPr>
          <p:cNvPr id="15" name="Rectangle: Rounded Corners 14">
            <a:extLst>
              <a:ext uri="{FF2B5EF4-FFF2-40B4-BE49-F238E27FC236}">
                <a16:creationId xmlns:a16="http://schemas.microsoft.com/office/drawing/2014/main" id="{47E67EB8-3420-C29A-D827-A9F3FB9FD2DD}"/>
              </a:ext>
            </a:extLst>
          </p:cNvPr>
          <p:cNvSpPr/>
          <p:nvPr/>
        </p:nvSpPr>
        <p:spPr>
          <a:xfrm>
            <a:off x="6223000" y="5207000"/>
            <a:ext cx="5461000" cy="825500"/>
          </a:xfrm>
          <a:prstGeom prst="roundRect">
            <a:avLst/>
          </a:prstGeom>
          <a:solidFill>
            <a:srgbClr val="141F3E"/>
          </a:solidFill>
          <a:ln w="1270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tlCol="0" anchor="t"/>
          <a:lstStyle/>
          <a:p>
            <a:r>
              <a:rPr lang="en-US" sz="1300" b="1">
                <a:solidFill>
                  <a:srgbClr val="38BDF8"/>
                </a:solidFill>
                <a:latin typeface="Segoe UI" panose="020B0502040204020203" pitchFamily="34" charset="0"/>
              </a:rPr>
              <a:t>10. Conclusion &amp; Future Scope</a:t>
            </a:r>
          </a:p>
          <a:p>
            <a:pPr>
              <a:spcBef>
                <a:spcPts val="200"/>
              </a:spcBef>
            </a:pPr>
            <a:r>
              <a:rPr lang="en-US" sz="1000">
                <a:solidFill>
                  <a:srgbClr val="94A3B8"/>
                </a:solidFill>
                <a:latin typeface="Segoe UI" panose="020B0502040204020203" pitchFamily="34" charset="0"/>
              </a:rPr>
              <a:t>System takeaways, 3D offside lines, and project sign-off</a:t>
            </a:r>
            <a:endParaRPr lang="en-IN" sz="1000">
              <a:solidFill>
                <a:srgbClr val="94A3B8"/>
              </a:solidFill>
              <a:latin typeface="Segoe UI" panose="020B0502040204020203" pitchFamily="34" charset="0"/>
            </a:endParaRPr>
          </a:p>
        </p:txBody>
      </p:sp>
    </p:spTree>
    <p:extLst>
      <p:ext uri="{BB962C8B-B14F-4D97-AF65-F5344CB8AC3E}">
        <p14:creationId xmlns:p14="http://schemas.microsoft.com/office/powerpoint/2010/main" val="2189669782"/>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2" presetClass="entr" presetSubtype="4" fill="hold" grpId="0" nodeType="withEffect">
                                  <p:stCondLst>
                                    <p:cond delay="15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23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31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39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47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30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38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46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54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62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F7240D-24F0-667A-058F-5D5DC9B4E5EE}"/>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2961A1A-CEBD-AF7C-B08F-81D3B062561F}"/>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03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A7003ACA-C88A-A1A1-3DB6-FFC990E24233}"/>
              </a:ext>
            </a:extLst>
          </p:cNvPr>
          <p:cNvSpPr txBox="1"/>
          <p:nvPr/>
        </p:nvSpPr>
        <p:spPr>
          <a:xfrm>
            <a:off x="508000" y="381000"/>
            <a:ext cx="11176000" cy="384721"/>
          </a:xfrm>
          <a:prstGeom prst="rect">
            <a:avLst/>
          </a:prstGeom>
          <a:noFill/>
        </p:spPr>
        <p:txBody>
          <a:bodyPr vert="horz" wrap="square" lIns="0" tIns="0" rtlCol="0">
            <a:spAutoFit/>
          </a:bodyPr>
          <a:lstStyle/>
          <a:p>
            <a:r>
              <a:rPr lang="en-IN" sz="2200" b="1">
                <a:solidFill>
                  <a:srgbClr val="F8FAFC"/>
                </a:solidFill>
                <a:latin typeface="Segoe UI" panose="020B0502040204020203" pitchFamily="34" charset="0"/>
              </a:rPr>
              <a:t>1. Introduction &amp; Background</a:t>
            </a:r>
          </a:p>
        </p:txBody>
      </p:sp>
      <p:sp>
        <p:nvSpPr>
          <p:cNvPr id="5" name="TextBox 4">
            <a:extLst>
              <a:ext uri="{FF2B5EF4-FFF2-40B4-BE49-F238E27FC236}">
                <a16:creationId xmlns:a16="http://schemas.microsoft.com/office/drawing/2014/main" id="{1CCFCB63-0CA1-96C4-DC03-1DC1709551CD}"/>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The Evolution of Football Officiating and the Need for Lightweight Automation</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056C4B3A-6C5F-A899-5790-9EFDDEE05F9F}"/>
              </a:ext>
            </a:extLst>
          </p:cNvPr>
          <p:cNvSpPr/>
          <p:nvPr/>
        </p:nvSpPr>
        <p:spPr>
          <a:xfrm>
            <a:off x="508000" y="1460500"/>
            <a:ext cx="5461000" cy="4762500"/>
          </a:xfrm>
          <a:prstGeom prst="roundRect">
            <a:avLst/>
          </a:prstGeom>
          <a:solidFill>
            <a:srgbClr val="141F3E"/>
          </a:solidFill>
          <a:ln w="1524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38BDF8"/>
                </a:solidFill>
                <a:latin typeface="Segoe UI" panose="020B0502040204020203" pitchFamily="34" charset="0"/>
              </a:rPr>
              <a:t>EVOLUTION OF FOOTBALL OFFICIATING</a:t>
            </a:r>
          </a:p>
          <a:p>
            <a:pPr>
              <a:spcBef>
                <a:spcPts val="300"/>
              </a:spcBef>
            </a:pPr>
            <a:r>
              <a:rPr lang="en-US" sz="1000">
                <a:solidFill>
                  <a:srgbClr val="F8FAFC"/>
                </a:solidFill>
                <a:latin typeface="Segoe UI" panose="020B0502040204020203" pitchFamily="34" charset="0"/>
              </a:rPr>
              <a:t>• Classical Human Officiating:</a:t>
            </a:r>
          </a:p>
          <a:p>
            <a:pPr>
              <a:spcBef>
                <a:spcPts val="300"/>
              </a:spcBef>
            </a:pPr>
            <a:r>
              <a:rPr lang="en-US" sz="1000">
                <a:solidFill>
                  <a:srgbClr val="F8FAFC"/>
                </a:solidFill>
                <a:latin typeface="Segoe UI" panose="020B0502040204020203" pitchFamily="34" charset="0"/>
              </a:rPr>
              <a:t>  For over a century, association football has relied strictly on on-pitch referees and two linesmen with unassisted line-of-sight visual perception.</a:t>
            </a:r>
          </a:p>
          <a:p>
            <a:pPr>
              <a:spcBef>
                <a:spcPts val="300"/>
              </a:spcBef>
            </a:pPr>
            <a:r>
              <a:rPr lang="en-US" sz="1000">
                <a:solidFill>
                  <a:srgbClr val="F8FAFC"/>
                </a:solidFill>
                <a:latin typeface="Segoe UI" panose="020B0502040204020203" pitchFamily="34" charset="0"/>
              </a:rPr>
              <a:t>• Emergence of Enterprise VAR:</a:t>
            </a:r>
          </a:p>
          <a:p>
            <a:pPr>
              <a:spcBef>
                <a:spcPts val="300"/>
              </a:spcBef>
            </a:pPr>
            <a:r>
              <a:rPr lang="en-US" sz="1000">
                <a:solidFill>
                  <a:srgbClr val="F8FAFC"/>
                </a:solidFill>
                <a:latin typeface="Segoe UI" panose="020B0502040204020203" pitchFamily="34" charset="0"/>
              </a:rPr>
              <a:t>  FIFA and UEFA introduced Video Assistant Referees (Hawk-Eye multi-camera rigs) to review critical match-deciding events.</a:t>
            </a:r>
          </a:p>
          <a:p>
            <a:pPr>
              <a:spcBef>
                <a:spcPts val="300"/>
              </a:spcBef>
            </a:pPr>
            <a:r>
              <a:rPr lang="en-US" sz="1000">
                <a:solidFill>
                  <a:srgbClr val="F8FAFC"/>
                </a:solidFill>
                <a:latin typeface="Segoe UI" panose="020B0502040204020203" pitchFamily="34" charset="0"/>
              </a:rPr>
              <a:t>• Key Officiating Responsibilities:</a:t>
            </a:r>
          </a:p>
          <a:p>
            <a:pPr>
              <a:spcBef>
                <a:spcPts val="300"/>
              </a:spcBef>
            </a:pPr>
            <a:r>
              <a:rPr lang="en-US" sz="1000">
                <a:solidFill>
                  <a:srgbClr val="F8FAFC"/>
                </a:solidFill>
                <a:latin typeface="Segoe UI" panose="020B0502040204020203" pitchFamily="34" charset="0"/>
              </a:rPr>
              <a:t>  1. Ball Out-of-Bounds &amp; Goal-Line Crossing</a:t>
            </a:r>
          </a:p>
          <a:p>
            <a:pPr>
              <a:spcBef>
                <a:spcPts val="300"/>
              </a:spcBef>
            </a:pPr>
            <a:r>
              <a:rPr lang="en-US" sz="1000">
                <a:solidFill>
                  <a:srgbClr val="F8FAFC"/>
                </a:solidFill>
                <a:latin typeface="Segoe UI" panose="020B0502040204020203" pitchFamily="34" charset="0"/>
              </a:rPr>
              <a:t>  2. Penalty Box Collisions &amp; Severe Fouls</a:t>
            </a:r>
          </a:p>
          <a:p>
            <a:pPr>
              <a:spcBef>
                <a:spcPts val="300"/>
              </a:spcBef>
            </a:pPr>
            <a:r>
              <a:rPr lang="en-US" sz="1000">
                <a:solidFill>
                  <a:srgbClr val="F8FAFC"/>
                </a:solidFill>
                <a:latin typeface="Segoe UI" panose="020B0502040204020203" pitchFamily="34" charset="0"/>
              </a:rPr>
              <a:t>  3. Disciplinary Yellow / Red Card Infractions</a:t>
            </a:r>
          </a:p>
          <a:p>
            <a:pPr>
              <a:spcBef>
                <a:spcPts val="300"/>
              </a:spcBef>
            </a:pPr>
            <a:r>
              <a:rPr lang="en-US" sz="1000">
                <a:solidFill>
                  <a:srgbClr val="F8FAFC"/>
                </a:solidFill>
                <a:latin typeface="Segoe UI" panose="020B0502040204020203" pitchFamily="34" charset="0"/>
              </a:rPr>
              <a:t>  4. Semi-Automated Offside Line Validation</a:t>
            </a:r>
            <a:endParaRPr lang="en-IN" sz="100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CAE01042-6097-9AAD-07E9-BDEFF7F62300}"/>
              </a:ext>
            </a:extLst>
          </p:cNvPr>
          <p:cNvSpPr/>
          <p:nvPr/>
        </p:nvSpPr>
        <p:spPr>
          <a:xfrm>
            <a:off x="6223000" y="1460500"/>
            <a:ext cx="5461000" cy="47625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10B981"/>
                </a:solidFill>
                <a:latin typeface="Segoe UI" panose="020B0502040204020203" pitchFamily="34" charset="0"/>
              </a:rPr>
              <a:t>THE TECHNOLOGICAL &amp; ECONOMIC DIVIDE</a:t>
            </a:r>
          </a:p>
          <a:p>
            <a:pPr>
              <a:spcBef>
                <a:spcPts val="300"/>
              </a:spcBef>
            </a:pPr>
            <a:r>
              <a:rPr lang="en-US" sz="1000">
                <a:solidFill>
                  <a:srgbClr val="F8FAFC"/>
                </a:solidFill>
                <a:latin typeface="Segoe UI" panose="020B0502040204020203" pitchFamily="34" charset="0"/>
              </a:rPr>
              <a:t>• The Prohibitive $1M+ Cost Barrier:</a:t>
            </a:r>
          </a:p>
          <a:p>
            <a:pPr>
              <a:spcBef>
                <a:spcPts val="300"/>
              </a:spcBef>
            </a:pPr>
            <a:r>
              <a:rPr lang="en-US" sz="1000">
                <a:solidFill>
                  <a:srgbClr val="F8FAFC"/>
                </a:solidFill>
                <a:latin typeface="Segoe UI" panose="020B0502040204020203" pitchFamily="34" charset="0"/>
              </a:rPr>
              <a:t>  Enterprise VAR systems cost upwards of $500k–$1M per stadium per season, locking out 99.8% of global football leagues.</a:t>
            </a:r>
          </a:p>
          <a:p>
            <a:pPr>
              <a:spcBef>
                <a:spcPts val="300"/>
              </a:spcBef>
            </a:pPr>
            <a:r>
              <a:rPr lang="en-US" sz="1000">
                <a:solidFill>
                  <a:srgbClr val="F8FAFC"/>
                </a:solidFill>
                <a:latin typeface="Segoe UI" panose="020B0502040204020203" pitchFamily="34" charset="0"/>
              </a:rPr>
              <a:t>• Grassroots &amp; Collegiate Void:</a:t>
            </a:r>
          </a:p>
          <a:p>
            <a:pPr>
              <a:spcBef>
                <a:spcPts val="300"/>
              </a:spcBef>
            </a:pPr>
            <a:r>
              <a:rPr lang="en-US" sz="1000">
                <a:solidFill>
                  <a:srgbClr val="F8FAFC"/>
                </a:solidFill>
                <a:latin typeface="Segoe UI" panose="020B0502040204020203" pitchFamily="34" charset="0"/>
              </a:rPr>
              <a:t>  Collegiate tournaments, semi-pro leagues, and youth academies operate with ZERO technological review, causing frequent controversial calls.</a:t>
            </a:r>
          </a:p>
          <a:p>
            <a:pPr>
              <a:spcBef>
                <a:spcPts val="300"/>
              </a:spcBef>
            </a:pPr>
            <a:r>
              <a:rPr lang="en-US" sz="1000">
                <a:solidFill>
                  <a:srgbClr val="F8FAFC"/>
                </a:solidFill>
                <a:latin typeface="Segoe UI" panose="020B0502040204020203" pitchFamily="34" charset="0"/>
              </a:rPr>
              <a:t>• Motivation for Football Vision AI:</a:t>
            </a:r>
          </a:p>
          <a:p>
            <a:pPr>
              <a:spcBef>
                <a:spcPts val="300"/>
              </a:spcBef>
            </a:pPr>
            <a:r>
              <a:rPr lang="en-US" sz="1000">
                <a:solidFill>
                  <a:srgbClr val="F8FAFC"/>
                </a:solidFill>
                <a:latin typeface="Segoe UI" panose="020B0502040204020203" pitchFamily="34" charset="0"/>
              </a:rPr>
              <a:t>  To engineer an autonomous, software-first computer vision and IoT architecture that delivers reliable referee assistance on commodity PC hardware.</a:t>
            </a:r>
            <a:endParaRPr lang="en-IN" sz="1000">
              <a:solidFill>
                <a:srgbClr val="F8FAFC"/>
              </a:solidFill>
              <a:latin typeface="Segoe UI" panose="020B0502040204020203" pitchFamily="34" charset="0"/>
            </a:endParaRPr>
          </a:p>
        </p:txBody>
      </p:sp>
    </p:spTree>
    <p:extLst>
      <p:ext uri="{BB962C8B-B14F-4D97-AF65-F5344CB8AC3E}">
        <p14:creationId xmlns:p14="http://schemas.microsoft.com/office/powerpoint/2010/main" val="431046073"/>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12E2E1-89F5-8466-3F6B-14E3E4CCFCA4}"/>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D49F340-FBEB-01F3-4F48-5A3D82421C0C}"/>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04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56484232-71FE-7A8A-A333-881D4C2B9FCA}"/>
              </a:ext>
            </a:extLst>
          </p:cNvPr>
          <p:cNvSpPr txBox="1"/>
          <p:nvPr/>
        </p:nvSpPr>
        <p:spPr>
          <a:xfrm>
            <a:off x="508000" y="381000"/>
            <a:ext cx="11176000" cy="384721"/>
          </a:xfrm>
          <a:prstGeom prst="rect">
            <a:avLst/>
          </a:prstGeom>
          <a:noFill/>
        </p:spPr>
        <p:txBody>
          <a:bodyPr vert="horz" wrap="square" lIns="0" tIns="0" rtlCol="0">
            <a:spAutoFit/>
          </a:bodyPr>
          <a:lstStyle/>
          <a:p>
            <a:r>
              <a:rPr lang="en-IN" sz="2200" b="1">
                <a:solidFill>
                  <a:srgbClr val="F8FAFC"/>
                </a:solidFill>
                <a:latin typeface="Segoe UI" panose="020B0502040204020203" pitchFamily="34" charset="0"/>
              </a:rPr>
              <a:t>2. Problem Statement &amp; Motivation</a:t>
            </a:r>
          </a:p>
        </p:txBody>
      </p:sp>
      <p:sp>
        <p:nvSpPr>
          <p:cNvPr id="5" name="TextBox 4">
            <a:extLst>
              <a:ext uri="{FF2B5EF4-FFF2-40B4-BE49-F238E27FC236}">
                <a16:creationId xmlns:a16="http://schemas.microsoft.com/office/drawing/2014/main" id="{D02523E3-3D7F-92D9-D273-78B9D32CCAD6}"/>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Critical Bottlenecks in Existing Officiating Systems (From Synopsis Chapter 5)</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3620CB25-AA59-0A5D-D351-59C2B46B5354}"/>
              </a:ext>
            </a:extLst>
          </p:cNvPr>
          <p:cNvSpPr/>
          <p:nvPr/>
        </p:nvSpPr>
        <p:spPr>
          <a:xfrm>
            <a:off x="508000" y="1460500"/>
            <a:ext cx="3606800" cy="3683000"/>
          </a:xfrm>
          <a:prstGeom prst="roundRect">
            <a:avLst/>
          </a:prstGeom>
          <a:solidFill>
            <a:srgbClr val="141F3E"/>
          </a:solidFill>
          <a:ln w="1524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EF4444"/>
                </a:solidFill>
                <a:latin typeface="Segoe UI" panose="020B0502040204020203" pitchFamily="34" charset="0"/>
              </a:rPr>
              <a:t>1. Prolonged Deliberation Delays</a:t>
            </a:r>
          </a:p>
          <a:p>
            <a:pPr>
              <a:spcBef>
                <a:spcPts val="300"/>
              </a:spcBef>
            </a:pPr>
            <a:r>
              <a:rPr lang="en-US" sz="1000">
                <a:solidFill>
                  <a:srgbClr val="F8FAFC"/>
                </a:solidFill>
                <a:latin typeface="Segoe UI" panose="020B0502040204020203" pitchFamily="34" charset="0"/>
              </a:rPr>
              <a:t>• Conventional VAR review procedures stall matches for 3 to 7 minutes.</a:t>
            </a:r>
          </a:p>
          <a:p>
            <a:pPr>
              <a:spcBef>
                <a:spcPts val="300"/>
              </a:spcBef>
            </a:pPr>
            <a:r>
              <a:rPr lang="en-US" sz="1000">
                <a:solidFill>
                  <a:srgbClr val="F8FAFC"/>
                </a:solidFill>
                <a:latin typeface="Segoe UI" panose="020B0502040204020203" pitchFamily="34" charset="0"/>
              </a:rPr>
              <a:t>• On-field referees must jog to sideline monitors, breaking player cardiovascular rhythm.</a:t>
            </a:r>
          </a:p>
          <a:p>
            <a:pPr>
              <a:spcBef>
                <a:spcPts val="300"/>
              </a:spcBef>
            </a:pPr>
            <a:r>
              <a:rPr lang="en-US" sz="1000">
                <a:solidFill>
                  <a:srgbClr val="F8FAFC"/>
                </a:solidFill>
                <a:latin typeface="Segoe UI" panose="020B0502040204020203" pitchFamily="34" charset="0"/>
              </a:rPr>
              <a:t>• Severely degrades spectator experience and creates excessive added injury time.</a:t>
            </a:r>
            <a:endParaRPr lang="en-IN" sz="100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747F70A4-82A1-01A9-0A33-80003C5EB2D0}"/>
              </a:ext>
            </a:extLst>
          </p:cNvPr>
          <p:cNvSpPr/>
          <p:nvPr/>
        </p:nvSpPr>
        <p:spPr>
          <a:xfrm>
            <a:off x="4292600" y="1460500"/>
            <a:ext cx="3606800" cy="3683000"/>
          </a:xfrm>
          <a:prstGeom prst="roundRect">
            <a:avLst/>
          </a:prstGeom>
          <a:solidFill>
            <a:srgbClr val="141F3E"/>
          </a:solidFill>
          <a:ln w="1524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F59E0B"/>
                </a:solidFill>
                <a:latin typeface="Segoe UI" panose="020B0502040204020203" pitchFamily="34" charset="0"/>
              </a:rPr>
              <a:t>2. Human Perceptual Fatigue &amp; Bias</a:t>
            </a:r>
          </a:p>
          <a:p>
            <a:pPr>
              <a:spcBef>
                <a:spcPts val="300"/>
              </a:spcBef>
            </a:pPr>
            <a:r>
              <a:rPr lang="en-US" sz="1000">
                <a:solidFill>
                  <a:srgbClr val="F8FAFC"/>
                </a:solidFill>
                <a:latin typeface="Segoe UI" panose="020B0502040204020203" pitchFamily="34" charset="0"/>
              </a:rPr>
              <a:t>• Referees must monitor 22 players moving at up to 35 km/h across 7,000+ m².</a:t>
            </a:r>
          </a:p>
          <a:p>
            <a:pPr>
              <a:spcBef>
                <a:spcPts val="300"/>
              </a:spcBef>
            </a:pPr>
            <a:r>
              <a:rPr lang="en-US" sz="1000">
                <a:solidFill>
                  <a:srgbClr val="F8FAFC"/>
                </a:solidFill>
                <a:latin typeface="Segoe UI" panose="020B0502040204020203" pitchFamily="34" charset="0"/>
              </a:rPr>
              <a:t>• Visual occlusion during crowded corners and fast deflections creates blind spots.</a:t>
            </a:r>
          </a:p>
          <a:p>
            <a:pPr>
              <a:spcBef>
                <a:spcPts val="300"/>
              </a:spcBef>
            </a:pPr>
            <a:r>
              <a:rPr lang="en-US" sz="1000">
                <a:solidFill>
                  <a:srgbClr val="F8FAFC"/>
                </a:solidFill>
                <a:latin typeface="Segoe UI" panose="020B0502040204020203" pitchFamily="34" charset="0"/>
              </a:rPr>
              <a:t>• Physiological fatigue in the 75th+ minute impairs spatial judgment and reaction time.</a:t>
            </a:r>
            <a:endParaRPr lang="en-IN" sz="1000">
              <a:solidFill>
                <a:srgbClr val="F8FAFC"/>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CED487A3-BB51-7E61-1D94-108995290FB1}"/>
              </a:ext>
            </a:extLst>
          </p:cNvPr>
          <p:cNvSpPr/>
          <p:nvPr/>
        </p:nvSpPr>
        <p:spPr>
          <a:xfrm>
            <a:off x="8077200" y="1460500"/>
            <a:ext cx="3606800" cy="3683000"/>
          </a:xfrm>
          <a:prstGeom prst="roundRect">
            <a:avLst/>
          </a:prstGeom>
          <a:solidFill>
            <a:srgbClr val="141F3E"/>
          </a:solidFill>
          <a:ln w="1524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38BDF8"/>
                </a:solidFill>
                <a:latin typeface="Segoe UI" panose="020B0502040204020203" pitchFamily="34" charset="0"/>
              </a:rPr>
              <a:t>3. Siloed Analytics &amp; High Hardware Cost</a:t>
            </a:r>
          </a:p>
          <a:p>
            <a:pPr>
              <a:spcBef>
                <a:spcPts val="300"/>
              </a:spcBef>
            </a:pPr>
            <a:r>
              <a:rPr lang="en-US" sz="1000">
                <a:solidFill>
                  <a:srgbClr val="F8FAFC"/>
                </a:solidFill>
                <a:latin typeface="Segoe UI" panose="020B0502040204020203" pitchFamily="34" charset="0"/>
              </a:rPr>
              <a:t>• Proprietary VAR systems require 14+ broadcast cameras and dedicated review vans.</a:t>
            </a:r>
          </a:p>
          <a:p>
            <a:pPr>
              <a:spcBef>
                <a:spcPts val="300"/>
              </a:spcBef>
            </a:pPr>
            <a:r>
              <a:rPr lang="en-US" sz="1000">
                <a:solidFill>
                  <a:srgbClr val="F8FAFC"/>
                </a:solidFill>
                <a:latin typeface="Segoe UI" panose="020B0502040204020203" pitchFamily="34" charset="0"/>
              </a:rPr>
              <a:t>• Existing tools operate strictly as disciplinary review silos without tactical analytics.</a:t>
            </a:r>
          </a:p>
          <a:p>
            <a:pPr>
              <a:spcBef>
                <a:spcPts val="300"/>
              </a:spcBef>
            </a:pPr>
            <a:r>
              <a:rPr lang="en-US" sz="1000">
                <a:solidFill>
                  <a:srgbClr val="F8FAFC"/>
                </a:solidFill>
                <a:latin typeface="Segoe UI" panose="020B0502040204020203" pitchFamily="34" charset="0"/>
              </a:rPr>
              <a:t>• Lacks real-time integration with player biometric safety and physical exertion telemetry.</a:t>
            </a:r>
            <a:endParaRPr lang="en-IN" sz="1000">
              <a:solidFill>
                <a:srgbClr val="F8FAFC"/>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EFD9D7C8-9D74-940C-39FD-5759EF779C5D}"/>
              </a:ext>
            </a:extLst>
          </p:cNvPr>
          <p:cNvSpPr/>
          <p:nvPr/>
        </p:nvSpPr>
        <p:spPr>
          <a:xfrm>
            <a:off x="508000" y="5334000"/>
            <a:ext cx="11176000" cy="889000"/>
          </a:xfrm>
          <a:prstGeom prst="roundRect">
            <a:avLst/>
          </a:prstGeom>
          <a:solidFill>
            <a:srgbClr val="141F3E"/>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203200" tIns="127000" rtlCol="0" anchor="ctr"/>
          <a:lstStyle/>
          <a:p>
            <a:r>
              <a:rPr lang="en-US" sz="1100" b="1">
                <a:solidFill>
                  <a:srgbClr val="10B981"/>
                </a:solidFill>
              </a:rPr>
              <a:t>ENGINEERING MOTIVATION:</a:t>
            </a:r>
          </a:p>
          <a:p>
            <a:pPr>
              <a:spcBef>
                <a:spcPts val="300"/>
              </a:spcBef>
            </a:pPr>
            <a:r>
              <a:rPr lang="en-US" sz="1000">
                <a:solidFill>
                  <a:srgbClr val="F8FAFC"/>
                </a:solidFill>
              </a:rPr>
              <a:t>To bridge this gap by developing an automated, lightweight, computer-vision and IoT-powered platform that performs real-time ball/player tracking, card detection, penalty collision analysis, and tactical heatmapping on standard edge hardware.</a:t>
            </a:r>
            <a:endParaRPr lang="en-IN" sz="1000">
              <a:solidFill>
                <a:srgbClr val="F8FAFC"/>
              </a:solidFill>
            </a:endParaRPr>
          </a:p>
        </p:txBody>
      </p:sp>
    </p:spTree>
    <p:extLst>
      <p:ext uri="{BB962C8B-B14F-4D97-AF65-F5344CB8AC3E}">
        <p14:creationId xmlns:p14="http://schemas.microsoft.com/office/powerpoint/2010/main" val="4240418442"/>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2" presetClass="entr" presetSubtype="4" fill="hold" grpId="0" nodeType="withEffect">
                                  <p:stCondLst>
                                    <p:cond delay="15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27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39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par>
                          <p:cTn id="25" fill="hold">
                            <p:stCondLst>
                              <p:cond delay="890"/>
                            </p:stCondLst>
                            <p:childTnLst>
                              <p:par>
                                <p:cTn id="26" presetID="6" presetClass="entr" presetSubtype="16"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ircle(in)">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894968-7421-3E03-4106-48E8EC84DC00}"/>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018224E-55E7-2A61-3E68-2F9BDAE84BB0}"/>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05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8F1A1B06-3E43-EA3C-D15E-5D2DC988EEC8}"/>
              </a:ext>
            </a:extLst>
          </p:cNvPr>
          <p:cNvSpPr txBox="1"/>
          <p:nvPr/>
        </p:nvSpPr>
        <p:spPr>
          <a:xfrm>
            <a:off x="508000" y="381000"/>
            <a:ext cx="11176000" cy="384721"/>
          </a:xfrm>
          <a:prstGeom prst="rect">
            <a:avLst/>
          </a:prstGeom>
          <a:noFill/>
        </p:spPr>
        <p:txBody>
          <a:bodyPr vert="horz" wrap="square" lIns="0" tIns="0" rtlCol="0">
            <a:spAutoFit/>
          </a:bodyPr>
          <a:lstStyle/>
          <a:p>
            <a:r>
              <a:rPr lang="en-IN" sz="2200" b="1">
                <a:solidFill>
                  <a:srgbClr val="F8FAFC"/>
                </a:solidFill>
                <a:latin typeface="Segoe UI" panose="020B0502040204020203" pitchFamily="34" charset="0"/>
              </a:rPr>
              <a:t>3. Literature Survey</a:t>
            </a:r>
          </a:p>
        </p:txBody>
      </p:sp>
      <p:sp>
        <p:nvSpPr>
          <p:cNvPr id="5" name="TextBox 4">
            <a:extLst>
              <a:ext uri="{FF2B5EF4-FFF2-40B4-BE49-F238E27FC236}">
                <a16:creationId xmlns:a16="http://schemas.microsoft.com/office/drawing/2014/main" id="{FF5090E4-687D-54B4-749E-598E8737EC5C}"/>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Comprehensive Benchmark of Academic Literature (From Project Report Table 3)</a:t>
            </a:r>
            <a:endParaRPr lang="en-IN" sz="1200">
              <a:solidFill>
                <a:srgbClr val="38BDF8"/>
              </a:solidFill>
              <a:latin typeface="Segoe UI" panose="020B0502040204020203" pitchFamily="34" charset="0"/>
            </a:endParaRPr>
          </a:p>
        </p:txBody>
      </p:sp>
      <p:graphicFrame>
        <p:nvGraphicFramePr>
          <p:cNvPr id="6" name="Table 5">
            <a:extLst>
              <a:ext uri="{FF2B5EF4-FFF2-40B4-BE49-F238E27FC236}">
                <a16:creationId xmlns:a16="http://schemas.microsoft.com/office/drawing/2014/main" id="{69B5A40F-DB5B-7441-3D29-1D5A23464054}"/>
              </a:ext>
            </a:extLst>
          </p:cNvPr>
          <p:cNvGraphicFramePr>
            <a:graphicFrameLocks noGrp="1"/>
          </p:cNvGraphicFramePr>
          <p:nvPr>
            <p:extLst>
              <p:ext uri="{D42A27DB-BD31-4B8C-83A1-F6EECF244321}">
                <p14:modId xmlns:p14="http://schemas.microsoft.com/office/powerpoint/2010/main" val="2404025045"/>
              </p:ext>
            </p:extLst>
          </p:nvPr>
        </p:nvGraphicFramePr>
        <p:xfrm>
          <a:off x="508000" y="1460500"/>
          <a:ext cx="11176000" cy="3937000"/>
        </p:xfrm>
        <a:graphic>
          <a:graphicData uri="http://schemas.openxmlformats.org/drawingml/2006/table">
            <a:tbl>
              <a:tblPr firstRow="1" bandRow="1">
                <a:tableStyleId>{5C22544A-7EE6-4342-B048-85BDC9FD1C3A}</a:tableStyleId>
              </a:tblPr>
              <a:tblGrid>
                <a:gridCol w="571500">
                  <a:extLst>
                    <a:ext uri="{9D8B030D-6E8A-4147-A177-3AD203B41FA5}">
                      <a16:colId xmlns:a16="http://schemas.microsoft.com/office/drawing/2014/main" val="300333926"/>
                    </a:ext>
                  </a:extLst>
                </a:gridCol>
                <a:gridCol w="2921000">
                  <a:extLst>
                    <a:ext uri="{9D8B030D-6E8A-4147-A177-3AD203B41FA5}">
                      <a16:colId xmlns:a16="http://schemas.microsoft.com/office/drawing/2014/main" val="1245218203"/>
                    </a:ext>
                  </a:extLst>
                </a:gridCol>
                <a:gridCol w="635000">
                  <a:extLst>
                    <a:ext uri="{9D8B030D-6E8A-4147-A177-3AD203B41FA5}">
                      <a16:colId xmlns:a16="http://schemas.microsoft.com/office/drawing/2014/main" val="2082215591"/>
                    </a:ext>
                  </a:extLst>
                </a:gridCol>
                <a:gridCol w="1206500">
                  <a:extLst>
                    <a:ext uri="{9D8B030D-6E8A-4147-A177-3AD203B41FA5}">
                      <a16:colId xmlns:a16="http://schemas.microsoft.com/office/drawing/2014/main" val="835270673"/>
                    </a:ext>
                  </a:extLst>
                </a:gridCol>
                <a:gridCol w="2921000">
                  <a:extLst>
                    <a:ext uri="{9D8B030D-6E8A-4147-A177-3AD203B41FA5}">
                      <a16:colId xmlns:a16="http://schemas.microsoft.com/office/drawing/2014/main" val="2157921801"/>
                    </a:ext>
                  </a:extLst>
                </a:gridCol>
                <a:gridCol w="2921000">
                  <a:extLst>
                    <a:ext uri="{9D8B030D-6E8A-4147-A177-3AD203B41FA5}">
                      <a16:colId xmlns:a16="http://schemas.microsoft.com/office/drawing/2014/main" val="3639957635"/>
                    </a:ext>
                  </a:extLst>
                </a:gridCol>
              </a:tblGrid>
              <a:tr h="787400">
                <a:tc>
                  <a:txBody>
                    <a:bodyPr/>
                    <a:lstStyle/>
                    <a:p>
                      <a:pPr algn="ctr"/>
                      <a:r>
                        <a:rPr lang="en-IN" sz="900" b="1">
                          <a:solidFill>
                            <a:srgbClr val="F8FAFC"/>
                          </a:solidFill>
                          <a:latin typeface="Segoe UI" panose="020B0502040204020203" pitchFamily="34" charset="0"/>
                        </a:rPr>
                        <a:t>SR.</a:t>
                      </a:r>
                    </a:p>
                  </a:txBody>
                  <a:tcPr>
                    <a:solidFill>
                      <a:srgbClr val="1E3A8A"/>
                    </a:solidFill>
                  </a:tcPr>
                </a:tc>
                <a:tc>
                  <a:txBody>
                    <a:bodyPr/>
                    <a:lstStyle/>
                    <a:p>
                      <a:pPr algn="ctr"/>
                      <a:r>
                        <a:rPr lang="en-IN" sz="900" b="1">
                          <a:solidFill>
                            <a:srgbClr val="F8FAFC"/>
                          </a:solidFill>
                          <a:latin typeface="Segoe UI" panose="020B0502040204020203" pitchFamily="34" charset="0"/>
                        </a:rPr>
                        <a:t>RESEARCH PAPER TITLE</a:t>
                      </a:r>
                    </a:p>
                  </a:txBody>
                  <a:tcPr>
                    <a:solidFill>
                      <a:srgbClr val="1E3A8A"/>
                    </a:solidFill>
                  </a:tcPr>
                </a:tc>
                <a:tc>
                  <a:txBody>
                    <a:bodyPr/>
                    <a:lstStyle/>
                    <a:p>
                      <a:pPr algn="ctr"/>
                      <a:r>
                        <a:rPr lang="en-IN" sz="900" b="1">
                          <a:solidFill>
                            <a:srgbClr val="F8FAFC"/>
                          </a:solidFill>
                          <a:latin typeface="Segoe UI" panose="020B0502040204020203" pitchFamily="34" charset="0"/>
                        </a:rPr>
                        <a:t>YEAR</a:t>
                      </a:r>
                    </a:p>
                  </a:txBody>
                  <a:tcPr>
                    <a:solidFill>
                      <a:srgbClr val="1E3A8A"/>
                    </a:solidFill>
                  </a:tcPr>
                </a:tc>
                <a:tc>
                  <a:txBody>
                    <a:bodyPr/>
                    <a:lstStyle/>
                    <a:p>
                      <a:pPr algn="ctr"/>
                      <a:r>
                        <a:rPr lang="en-IN" sz="900" b="1">
                          <a:solidFill>
                            <a:srgbClr val="F8FAFC"/>
                          </a:solidFill>
                          <a:latin typeface="Segoe UI" panose="020B0502040204020203" pitchFamily="34" charset="0"/>
                        </a:rPr>
                        <a:t>PUBLISHER</a:t>
                      </a:r>
                    </a:p>
                  </a:txBody>
                  <a:tcPr>
                    <a:solidFill>
                      <a:srgbClr val="1E3A8A"/>
                    </a:solidFill>
                  </a:tcPr>
                </a:tc>
                <a:tc>
                  <a:txBody>
                    <a:bodyPr/>
                    <a:lstStyle/>
                    <a:p>
                      <a:pPr algn="ctr"/>
                      <a:r>
                        <a:rPr lang="en-IN" sz="900" b="1">
                          <a:solidFill>
                            <a:srgbClr val="F8FAFC"/>
                          </a:solidFill>
                          <a:latin typeface="Segoe UI" panose="020B0502040204020203" pitchFamily="34" charset="0"/>
                        </a:rPr>
                        <a:t>KEY ADVANTAGES</a:t>
                      </a:r>
                    </a:p>
                  </a:txBody>
                  <a:tcPr>
                    <a:solidFill>
                      <a:srgbClr val="1E3A8A"/>
                    </a:solidFill>
                  </a:tcPr>
                </a:tc>
                <a:tc>
                  <a:txBody>
                    <a:bodyPr/>
                    <a:lstStyle/>
                    <a:p>
                      <a:pPr algn="ctr"/>
                      <a:r>
                        <a:rPr lang="en-IN" sz="900" b="1">
                          <a:solidFill>
                            <a:srgbClr val="F8FAFC"/>
                          </a:solidFill>
                          <a:latin typeface="Segoe UI" panose="020B0502040204020203" pitchFamily="34" charset="0"/>
                        </a:rPr>
                        <a:t>CRITICAL LIMITATIONS</a:t>
                      </a:r>
                    </a:p>
                  </a:txBody>
                  <a:tcPr>
                    <a:solidFill>
                      <a:srgbClr val="1E3A8A"/>
                    </a:solidFill>
                  </a:tcPr>
                </a:tc>
                <a:extLst>
                  <a:ext uri="{0D108BD9-81ED-4DB2-BD59-A6C34878D82A}">
                    <a16:rowId xmlns:a16="http://schemas.microsoft.com/office/drawing/2014/main" val="2392938317"/>
                  </a:ext>
                </a:extLst>
              </a:tr>
              <a:tr h="787400">
                <a:tc>
                  <a:txBody>
                    <a:bodyPr/>
                    <a:lstStyle/>
                    <a:p>
                      <a:pPr algn="ctr"/>
                      <a:r>
                        <a:rPr lang="en-IN" sz="850">
                          <a:solidFill>
                            <a:srgbClr val="F8FAFC"/>
                          </a:solidFill>
                          <a:latin typeface="Segoe UI" panose="020B0502040204020203" pitchFamily="34" charset="0"/>
                        </a:rPr>
                        <a:t>1.</a:t>
                      </a:r>
                    </a:p>
                  </a:txBody>
                  <a:tcPr>
                    <a:solidFill>
                      <a:srgbClr val="141F3E"/>
                    </a:solidFill>
                  </a:tcPr>
                </a:tc>
                <a:tc>
                  <a:txBody>
                    <a:bodyPr/>
                    <a:lstStyle/>
                    <a:p>
                      <a:pPr algn="l"/>
                      <a:r>
                        <a:rPr lang="en-US" sz="850">
                          <a:solidFill>
                            <a:srgbClr val="F8FAFC"/>
                          </a:solidFill>
                          <a:latin typeface="Segoe UI" panose="020B0502040204020203" pitchFamily="34" charset="0"/>
                        </a:rPr>
                        <a:t>Deep Learning &amp; Computer Vision for Football Match Analytics</a:t>
                      </a:r>
                      <a:endParaRPr lang="en-IN" sz="850">
                        <a:solidFill>
                          <a:srgbClr val="F8FAFC"/>
                        </a:solidFill>
                        <a:latin typeface="Segoe UI" panose="020B0502040204020203" pitchFamily="34" charset="0"/>
                      </a:endParaRPr>
                    </a:p>
                  </a:txBody>
                  <a:tcPr>
                    <a:solidFill>
                      <a:srgbClr val="141F3E"/>
                    </a:solidFill>
                  </a:tcPr>
                </a:tc>
                <a:tc>
                  <a:txBody>
                    <a:bodyPr/>
                    <a:lstStyle/>
                    <a:p>
                      <a:pPr algn="ctr"/>
                      <a:r>
                        <a:rPr lang="en-IN" sz="850">
                          <a:solidFill>
                            <a:srgbClr val="F8FAFC"/>
                          </a:solidFill>
                          <a:latin typeface="Segoe UI" panose="020B0502040204020203" pitchFamily="34" charset="0"/>
                        </a:rPr>
                        <a:t>2024</a:t>
                      </a:r>
                    </a:p>
                  </a:txBody>
                  <a:tcPr>
                    <a:solidFill>
                      <a:srgbClr val="141F3E"/>
                    </a:solidFill>
                  </a:tcPr>
                </a:tc>
                <a:tc>
                  <a:txBody>
                    <a:bodyPr/>
                    <a:lstStyle/>
                    <a:p>
                      <a:pPr algn="ctr"/>
                      <a:r>
                        <a:rPr lang="en-IN" sz="850">
                          <a:solidFill>
                            <a:srgbClr val="F8FAFC"/>
                          </a:solidFill>
                          <a:latin typeface="Segoe UI" panose="020B0502040204020203" pitchFamily="34" charset="0"/>
                        </a:rPr>
                        <a:t>IEEE Access</a:t>
                      </a:r>
                    </a:p>
                  </a:txBody>
                  <a:tcPr>
                    <a:solidFill>
                      <a:srgbClr val="141F3E"/>
                    </a:solidFill>
                  </a:tcPr>
                </a:tc>
                <a:tc>
                  <a:txBody>
                    <a:bodyPr/>
                    <a:lstStyle/>
                    <a:p>
                      <a:pPr algn="l"/>
                      <a:r>
                        <a:rPr lang="en-US" sz="850">
                          <a:solidFill>
                            <a:srgbClr val="F8FAFC"/>
                          </a:solidFill>
                          <a:latin typeface="Segoe UI" panose="020B0502040204020203" pitchFamily="34" charset="0"/>
                        </a:rPr>
                        <a:t>High multi-object accuracy, automated tactical summaries.</a:t>
                      </a:r>
                      <a:endParaRPr lang="en-IN" sz="850">
                        <a:solidFill>
                          <a:srgbClr val="F8FAFC"/>
                        </a:solidFill>
                        <a:latin typeface="Segoe UI" panose="020B0502040204020203" pitchFamily="34" charset="0"/>
                      </a:endParaRPr>
                    </a:p>
                  </a:txBody>
                  <a:tcPr>
                    <a:solidFill>
                      <a:srgbClr val="141F3E"/>
                    </a:solidFill>
                  </a:tcPr>
                </a:tc>
                <a:tc>
                  <a:txBody>
                    <a:bodyPr/>
                    <a:lstStyle/>
                    <a:p>
                      <a:pPr algn="l"/>
                      <a:r>
                        <a:rPr lang="en-US" sz="850">
                          <a:solidFill>
                            <a:srgbClr val="F8FAFC"/>
                          </a:solidFill>
                          <a:latin typeface="Segoe UI" panose="020B0502040204020203" pitchFamily="34" charset="0"/>
                        </a:rPr>
                        <a:t>High GPU hardware overhead; does not support real-time VAR card or boundary heuristics.</a:t>
                      </a:r>
                      <a:endParaRPr lang="en-IN" sz="850">
                        <a:solidFill>
                          <a:srgbClr val="F8FAFC"/>
                        </a:solidFill>
                        <a:latin typeface="Segoe UI" panose="020B0502040204020203" pitchFamily="34" charset="0"/>
                      </a:endParaRPr>
                    </a:p>
                  </a:txBody>
                  <a:tcPr>
                    <a:solidFill>
                      <a:srgbClr val="141F3E"/>
                    </a:solidFill>
                  </a:tcPr>
                </a:tc>
                <a:extLst>
                  <a:ext uri="{0D108BD9-81ED-4DB2-BD59-A6C34878D82A}">
                    <a16:rowId xmlns:a16="http://schemas.microsoft.com/office/drawing/2014/main" val="4186981362"/>
                  </a:ext>
                </a:extLst>
              </a:tr>
              <a:tr h="787400">
                <a:tc>
                  <a:txBody>
                    <a:bodyPr/>
                    <a:lstStyle/>
                    <a:p>
                      <a:pPr algn="ctr"/>
                      <a:r>
                        <a:rPr lang="en-IN" sz="850">
                          <a:solidFill>
                            <a:srgbClr val="F8FAFC"/>
                          </a:solidFill>
                          <a:latin typeface="Segoe UI" panose="020B0502040204020203" pitchFamily="34" charset="0"/>
                        </a:rPr>
                        <a:t>2.</a:t>
                      </a:r>
                    </a:p>
                  </a:txBody>
                  <a:tcPr>
                    <a:solidFill>
                      <a:srgbClr val="1C2B52"/>
                    </a:solidFill>
                  </a:tcPr>
                </a:tc>
                <a:tc>
                  <a:txBody>
                    <a:bodyPr/>
                    <a:lstStyle/>
                    <a:p>
                      <a:pPr algn="l"/>
                      <a:r>
                        <a:rPr lang="en-US" sz="850">
                          <a:solidFill>
                            <a:srgbClr val="F8FAFC"/>
                          </a:solidFill>
                          <a:latin typeface="Segoe UI" panose="020B0502040204020203" pitchFamily="34" charset="0"/>
                        </a:rPr>
                        <a:t>Real-Time Ball Trajectory &amp; Pitch Boundary Estimation</a:t>
                      </a:r>
                      <a:endParaRPr lang="en-IN" sz="850">
                        <a:solidFill>
                          <a:srgbClr val="F8FAFC"/>
                        </a:solidFill>
                        <a:latin typeface="Segoe UI" panose="020B0502040204020203" pitchFamily="34" charset="0"/>
                      </a:endParaRPr>
                    </a:p>
                  </a:txBody>
                  <a:tcPr>
                    <a:solidFill>
                      <a:srgbClr val="1C2B52"/>
                    </a:solidFill>
                  </a:tcPr>
                </a:tc>
                <a:tc>
                  <a:txBody>
                    <a:bodyPr/>
                    <a:lstStyle/>
                    <a:p>
                      <a:pPr algn="ctr"/>
                      <a:r>
                        <a:rPr lang="en-IN" sz="850">
                          <a:solidFill>
                            <a:srgbClr val="F8FAFC"/>
                          </a:solidFill>
                          <a:latin typeface="Segoe UI" panose="020B0502040204020203" pitchFamily="34" charset="0"/>
                        </a:rPr>
                        <a:t>2023</a:t>
                      </a:r>
                    </a:p>
                  </a:txBody>
                  <a:tcPr>
                    <a:solidFill>
                      <a:srgbClr val="1C2B52"/>
                    </a:solidFill>
                  </a:tcPr>
                </a:tc>
                <a:tc>
                  <a:txBody>
                    <a:bodyPr/>
                    <a:lstStyle/>
                    <a:p>
                      <a:pPr algn="ctr"/>
                      <a:r>
                        <a:rPr lang="en-IN" sz="850">
                          <a:solidFill>
                            <a:srgbClr val="F8FAFC"/>
                          </a:solidFill>
                          <a:latin typeface="Segoe UI" panose="020B0502040204020203" pitchFamily="34" charset="0"/>
                        </a:rPr>
                        <a:t>Springer</a:t>
                      </a:r>
                    </a:p>
                  </a:txBody>
                  <a:tcPr>
                    <a:solidFill>
                      <a:srgbClr val="1C2B52"/>
                    </a:solidFill>
                  </a:tcPr>
                </a:tc>
                <a:tc>
                  <a:txBody>
                    <a:bodyPr/>
                    <a:lstStyle/>
                    <a:p>
                      <a:pPr algn="l"/>
                      <a:r>
                        <a:rPr lang="en-US" sz="850">
                          <a:solidFill>
                            <a:srgbClr val="F8FAFC"/>
                          </a:solidFill>
                          <a:latin typeface="Segoe UI" panose="020B0502040204020203" pitchFamily="34" charset="0"/>
                        </a:rPr>
                        <a:t>Robust 3D parabola fitting for ball flight under broadcast cameras.</a:t>
                      </a:r>
                      <a:endParaRPr lang="en-IN" sz="850">
                        <a:solidFill>
                          <a:srgbClr val="F8FAFC"/>
                        </a:solidFill>
                        <a:latin typeface="Segoe UI" panose="020B0502040204020203" pitchFamily="34" charset="0"/>
                      </a:endParaRPr>
                    </a:p>
                  </a:txBody>
                  <a:tcPr>
                    <a:solidFill>
                      <a:srgbClr val="1C2B52"/>
                    </a:solidFill>
                  </a:tcPr>
                </a:tc>
                <a:tc>
                  <a:txBody>
                    <a:bodyPr/>
                    <a:lstStyle/>
                    <a:p>
                      <a:pPr algn="l"/>
                      <a:r>
                        <a:rPr lang="en-US" sz="850">
                          <a:solidFill>
                            <a:srgbClr val="F8FAFC"/>
                          </a:solidFill>
                          <a:latin typeface="Segoe UI" panose="020B0502040204020203" pitchFamily="34" charset="0"/>
                        </a:rPr>
                        <a:t>High sensitivity to occlusion by players; complex camera calibration requirements.</a:t>
                      </a:r>
                      <a:endParaRPr lang="en-IN" sz="850">
                        <a:solidFill>
                          <a:srgbClr val="F8FAFC"/>
                        </a:solidFill>
                        <a:latin typeface="Segoe UI" panose="020B0502040204020203" pitchFamily="34" charset="0"/>
                      </a:endParaRPr>
                    </a:p>
                  </a:txBody>
                  <a:tcPr>
                    <a:solidFill>
                      <a:srgbClr val="1C2B52"/>
                    </a:solidFill>
                  </a:tcPr>
                </a:tc>
                <a:extLst>
                  <a:ext uri="{0D108BD9-81ED-4DB2-BD59-A6C34878D82A}">
                    <a16:rowId xmlns:a16="http://schemas.microsoft.com/office/drawing/2014/main" val="1889952722"/>
                  </a:ext>
                </a:extLst>
              </a:tr>
              <a:tr h="787400">
                <a:tc>
                  <a:txBody>
                    <a:bodyPr/>
                    <a:lstStyle/>
                    <a:p>
                      <a:pPr algn="ctr"/>
                      <a:r>
                        <a:rPr lang="en-IN" sz="850">
                          <a:solidFill>
                            <a:srgbClr val="F8FAFC"/>
                          </a:solidFill>
                          <a:latin typeface="Segoe UI" panose="020B0502040204020203" pitchFamily="34" charset="0"/>
                        </a:rPr>
                        <a:t>3.</a:t>
                      </a:r>
                    </a:p>
                  </a:txBody>
                  <a:tcPr>
                    <a:solidFill>
                      <a:srgbClr val="141F3E"/>
                    </a:solidFill>
                  </a:tcPr>
                </a:tc>
                <a:tc>
                  <a:txBody>
                    <a:bodyPr/>
                    <a:lstStyle/>
                    <a:p>
                      <a:pPr algn="l"/>
                      <a:r>
                        <a:rPr lang="en-US" sz="850">
                          <a:solidFill>
                            <a:srgbClr val="F8FAFC"/>
                          </a:solidFill>
                          <a:latin typeface="Segoe UI" panose="020B0502040204020203" pitchFamily="34" charset="0"/>
                        </a:rPr>
                        <a:t>Automated Sports Refereeing &amp; Foul Classification</a:t>
                      </a:r>
                      <a:endParaRPr lang="en-IN" sz="850">
                        <a:solidFill>
                          <a:srgbClr val="F8FAFC"/>
                        </a:solidFill>
                        <a:latin typeface="Segoe UI" panose="020B0502040204020203" pitchFamily="34" charset="0"/>
                      </a:endParaRPr>
                    </a:p>
                  </a:txBody>
                  <a:tcPr>
                    <a:solidFill>
                      <a:srgbClr val="141F3E"/>
                    </a:solidFill>
                  </a:tcPr>
                </a:tc>
                <a:tc>
                  <a:txBody>
                    <a:bodyPr/>
                    <a:lstStyle/>
                    <a:p>
                      <a:pPr algn="ctr"/>
                      <a:r>
                        <a:rPr lang="en-IN" sz="850">
                          <a:solidFill>
                            <a:srgbClr val="F8FAFC"/>
                          </a:solidFill>
                          <a:latin typeface="Segoe UI" panose="020B0502040204020203" pitchFamily="34" charset="0"/>
                        </a:rPr>
                        <a:t>2023</a:t>
                      </a:r>
                    </a:p>
                  </a:txBody>
                  <a:tcPr>
                    <a:solidFill>
                      <a:srgbClr val="141F3E"/>
                    </a:solidFill>
                  </a:tcPr>
                </a:tc>
                <a:tc>
                  <a:txBody>
                    <a:bodyPr/>
                    <a:lstStyle/>
                    <a:p>
                      <a:pPr algn="ctr"/>
                      <a:r>
                        <a:rPr lang="en-IN" sz="850">
                          <a:solidFill>
                            <a:srgbClr val="F8FAFC"/>
                          </a:solidFill>
                          <a:latin typeface="Segoe UI" panose="020B0502040204020203" pitchFamily="34" charset="0"/>
                        </a:rPr>
                        <a:t>Elsevier</a:t>
                      </a:r>
                    </a:p>
                  </a:txBody>
                  <a:tcPr>
                    <a:solidFill>
                      <a:srgbClr val="141F3E"/>
                    </a:solidFill>
                  </a:tcPr>
                </a:tc>
                <a:tc>
                  <a:txBody>
                    <a:bodyPr/>
                    <a:lstStyle/>
                    <a:p>
                      <a:pPr algn="l"/>
                      <a:r>
                        <a:rPr lang="en-US" sz="850">
                          <a:solidFill>
                            <a:srgbClr val="F8FAFC"/>
                          </a:solidFill>
                          <a:latin typeface="Segoe UI" panose="020B0502040204020203" pitchFamily="34" charset="0"/>
                        </a:rPr>
                        <a:t>Reduces subjective bias in tackle and foul classification.</a:t>
                      </a:r>
                      <a:endParaRPr lang="en-IN" sz="850">
                        <a:solidFill>
                          <a:srgbClr val="F8FAFC"/>
                        </a:solidFill>
                        <a:latin typeface="Segoe UI" panose="020B0502040204020203" pitchFamily="34" charset="0"/>
                      </a:endParaRPr>
                    </a:p>
                  </a:txBody>
                  <a:tcPr>
                    <a:solidFill>
                      <a:srgbClr val="141F3E"/>
                    </a:solidFill>
                  </a:tcPr>
                </a:tc>
                <a:tc>
                  <a:txBody>
                    <a:bodyPr/>
                    <a:lstStyle/>
                    <a:p>
                      <a:pPr algn="l"/>
                      <a:r>
                        <a:rPr lang="en-US" sz="850">
                          <a:solidFill>
                            <a:srgbClr val="F8FAFC"/>
                          </a:solidFill>
                          <a:latin typeface="Segoe UI" panose="020B0502040204020203" pitchFamily="34" charset="0"/>
                        </a:rPr>
                        <a:t>Prolonged processing latency (&gt;2.5s per clip); lacks IoT biometric integration.</a:t>
                      </a:r>
                      <a:endParaRPr lang="en-IN" sz="850">
                        <a:solidFill>
                          <a:srgbClr val="F8FAFC"/>
                        </a:solidFill>
                        <a:latin typeface="Segoe UI" panose="020B0502040204020203" pitchFamily="34" charset="0"/>
                      </a:endParaRPr>
                    </a:p>
                  </a:txBody>
                  <a:tcPr>
                    <a:solidFill>
                      <a:srgbClr val="141F3E"/>
                    </a:solidFill>
                  </a:tcPr>
                </a:tc>
                <a:extLst>
                  <a:ext uri="{0D108BD9-81ED-4DB2-BD59-A6C34878D82A}">
                    <a16:rowId xmlns:a16="http://schemas.microsoft.com/office/drawing/2014/main" val="619597401"/>
                  </a:ext>
                </a:extLst>
              </a:tr>
              <a:tr h="787400">
                <a:tc>
                  <a:txBody>
                    <a:bodyPr/>
                    <a:lstStyle/>
                    <a:p>
                      <a:pPr algn="ctr"/>
                      <a:r>
                        <a:rPr lang="en-IN" sz="850">
                          <a:solidFill>
                            <a:srgbClr val="F8FAFC"/>
                          </a:solidFill>
                          <a:latin typeface="Segoe UI" panose="020B0502040204020203" pitchFamily="34" charset="0"/>
                        </a:rPr>
                        <a:t>4.</a:t>
                      </a:r>
                    </a:p>
                  </a:txBody>
                  <a:tcPr>
                    <a:solidFill>
                      <a:srgbClr val="1C2B52"/>
                    </a:solidFill>
                  </a:tcPr>
                </a:tc>
                <a:tc>
                  <a:txBody>
                    <a:bodyPr/>
                    <a:lstStyle/>
                    <a:p>
                      <a:pPr algn="l"/>
                      <a:r>
                        <a:rPr lang="en-US" sz="850">
                          <a:solidFill>
                            <a:srgbClr val="F8FAFC"/>
                          </a:solidFill>
                          <a:latin typeface="Segoe UI" panose="020B0502040204020203" pitchFamily="34" charset="0"/>
                        </a:rPr>
                        <a:t>Wearable IoT Telemetry &amp; Biometrics for High-Performance Football</a:t>
                      </a:r>
                      <a:endParaRPr lang="en-IN" sz="850">
                        <a:solidFill>
                          <a:srgbClr val="F8FAFC"/>
                        </a:solidFill>
                        <a:latin typeface="Segoe UI" panose="020B0502040204020203" pitchFamily="34" charset="0"/>
                      </a:endParaRPr>
                    </a:p>
                  </a:txBody>
                  <a:tcPr>
                    <a:solidFill>
                      <a:srgbClr val="1C2B52"/>
                    </a:solidFill>
                  </a:tcPr>
                </a:tc>
                <a:tc>
                  <a:txBody>
                    <a:bodyPr/>
                    <a:lstStyle/>
                    <a:p>
                      <a:pPr algn="ctr"/>
                      <a:r>
                        <a:rPr lang="en-IN" sz="850">
                          <a:solidFill>
                            <a:srgbClr val="F8FAFC"/>
                          </a:solidFill>
                          <a:latin typeface="Segoe UI" panose="020B0502040204020203" pitchFamily="34" charset="0"/>
                        </a:rPr>
                        <a:t>2022</a:t>
                      </a:r>
                    </a:p>
                  </a:txBody>
                  <a:tcPr>
                    <a:solidFill>
                      <a:srgbClr val="1C2B52"/>
                    </a:solidFill>
                  </a:tcPr>
                </a:tc>
                <a:tc>
                  <a:txBody>
                    <a:bodyPr/>
                    <a:lstStyle/>
                    <a:p>
                      <a:pPr algn="ctr"/>
                      <a:r>
                        <a:rPr lang="en-IN" sz="850">
                          <a:solidFill>
                            <a:srgbClr val="F8FAFC"/>
                          </a:solidFill>
                          <a:latin typeface="Segoe UI" panose="020B0502040204020203" pitchFamily="34" charset="0"/>
                        </a:rPr>
                        <a:t>IEEE Sensors</a:t>
                      </a:r>
                    </a:p>
                  </a:txBody>
                  <a:tcPr>
                    <a:solidFill>
                      <a:srgbClr val="1C2B52"/>
                    </a:solidFill>
                  </a:tcPr>
                </a:tc>
                <a:tc>
                  <a:txBody>
                    <a:bodyPr/>
                    <a:lstStyle/>
                    <a:p>
                      <a:pPr algn="l"/>
                      <a:r>
                        <a:rPr lang="en-US" sz="850">
                          <a:solidFill>
                            <a:srgbClr val="F8FAFC"/>
                          </a:solidFill>
                          <a:latin typeface="Segoe UI" panose="020B0502040204020203" pitchFamily="34" charset="0"/>
                        </a:rPr>
                        <a:t>Real-time cardiovascular monitoring, fatigue &amp; injury alerts.</a:t>
                      </a:r>
                      <a:endParaRPr lang="en-IN" sz="850">
                        <a:solidFill>
                          <a:srgbClr val="F8FAFC"/>
                        </a:solidFill>
                        <a:latin typeface="Segoe UI" panose="020B0502040204020203" pitchFamily="34" charset="0"/>
                      </a:endParaRPr>
                    </a:p>
                  </a:txBody>
                  <a:tcPr>
                    <a:solidFill>
                      <a:srgbClr val="1C2B52"/>
                    </a:solidFill>
                  </a:tcPr>
                </a:tc>
                <a:tc>
                  <a:txBody>
                    <a:bodyPr/>
                    <a:lstStyle/>
                    <a:p>
                      <a:pPr algn="l"/>
                      <a:r>
                        <a:rPr lang="en-US" sz="850">
                          <a:solidFill>
                            <a:srgbClr val="F8FAFC"/>
                          </a:solidFill>
                          <a:latin typeface="Segoe UI" panose="020B0502040204020203" pitchFamily="34" charset="0"/>
                        </a:rPr>
                        <a:t>Solely biometric data; lacks optical video alignment and autonomous refereeing functionality.</a:t>
                      </a:r>
                      <a:endParaRPr lang="en-IN" sz="850">
                        <a:solidFill>
                          <a:srgbClr val="F8FAFC"/>
                        </a:solidFill>
                        <a:latin typeface="Segoe UI" panose="020B0502040204020203" pitchFamily="34" charset="0"/>
                      </a:endParaRPr>
                    </a:p>
                  </a:txBody>
                  <a:tcPr>
                    <a:solidFill>
                      <a:srgbClr val="1C2B52"/>
                    </a:solidFill>
                  </a:tcPr>
                </a:tc>
                <a:extLst>
                  <a:ext uri="{0D108BD9-81ED-4DB2-BD59-A6C34878D82A}">
                    <a16:rowId xmlns:a16="http://schemas.microsoft.com/office/drawing/2014/main" val="3263180726"/>
                  </a:ext>
                </a:extLst>
              </a:tr>
            </a:tbl>
          </a:graphicData>
        </a:graphic>
      </p:graphicFrame>
      <p:sp>
        <p:nvSpPr>
          <p:cNvPr id="7" name="Rectangle: Rounded Corners 6">
            <a:extLst>
              <a:ext uri="{FF2B5EF4-FFF2-40B4-BE49-F238E27FC236}">
                <a16:creationId xmlns:a16="http://schemas.microsoft.com/office/drawing/2014/main" id="{47B3ACAF-7B34-B810-AD03-B0A0A7293BA4}"/>
              </a:ext>
            </a:extLst>
          </p:cNvPr>
          <p:cNvSpPr/>
          <p:nvPr/>
        </p:nvSpPr>
        <p:spPr>
          <a:xfrm>
            <a:off x="508000" y="5588000"/>
            <a:ext cx="11176000" cy="635000"/>
          </a:xfrm>
          <a:prstGeom prst="roundRect">
            <a:avLst/>
          </a:prstGeom>
          <a:solidFill>
            <a:srgbClr val="141F3E"/>
          </a:solidFill>
          <a:ln w="1524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F8FAFC"/>
                </a:solidFill>
                <a:latin typeface="Segoe UI" panose="020B0502040204020203" pitchFamily="34" charset="0"/>
              </a:rPr>
              <a:t>IDENTIFIED RESEARCH GAP: Prior research separates computer vision officiating from biometric telemetry. Football Vision AI unifies edge optical incident verification with wearable cardiovascular monitoring in a single real-time HUD.</a:t>
            </a:r>
            <a:endParaRPr lang="en-IN" sz="1000" b="1">
              <a:solidFill>
                <a:srgbClr val="F8FAFC"/>
              </a:solidFill>
              <a:latin typeface="Segoe UI" panose="020B0502040204020203" pitchFamily="34" charset="0"/>
            </a:endParaRPr>
          </a:p>
        </p:txBody>
      </p:sp>
    </p:spTree>
    <p:extLst>
      <p:ext uri="{BB962C8B-B14F-4D97-AF65-F5344CB8AC3E}">
        <p14:creationId xmlns:p14="http://schemas.microsoft.com/office/powerpoint/2010/main" val="3565351014"/>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2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par>
                          <p:cTn id="16" fill="hold">
                            <p:stCondLst>
                              <p:cond delay="500"/>
                            </p:stCondLst>
                            <p:childTnLst>
                              <p:par>
                                <p:cTn id="17" presetID="28"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400" fill="hold"/>
                                        <p:tgtEl>
                                          <p:spTgt spid="7"/>
                                        </p:tgtEl>
                                        <p:attrNameLst>
                                          <p:attrName>ppt_x</p:attrName>
                                        </p:attrNameLst>
                                      </p:cBhvr>
                                      <p:tavLst>
                                        <p:tav tm="0">
                                          <p:val>
                                            <p:strVal val="#ppt_x"/>
                                          </p:val>
                                        </p:tav>
                                        <p:tav tm="100000">
                                          <p:val>
                                            <p:strVal val="#ppt_x"/>
                                          </p:val>
                                        </p:tav>
                                      </p:tavLst>
                                    </p:anim>
                                    <p:anim calcmode="lin" valueType="num">
                                      <p:cBhvr>
                                        <p:cTn id="20" dur="400" fill="hold"/>
                                        <p:tgtEl>
                                          <p:spTgt spid="7"/>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CE9FED-5E85-3A12-E3B3-7C9422C411F1}"/>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89353D1-3BC6-FC89-D65B-1944C43610EF}"/>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06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5A3116EC-598E-74D3-5BFD-359ABC778D89}"/>
              </a:ext>
            </a:extLst>
          </p:cNvPr>
          <p:cNvSpPr txBox="1"/>
          <p:nvPr/>
        </p:nvSpPr>
        <p:spPr>
          <a:xfrm>
            <a:off x="508000" y="381000"/>
            <a:ext cx="11176000" cy="384721"/>
          </a:xfrm>
          <a:prstGeom prst="rect">
            <a:avLst/>
          </a:prstGeom>
          <a:noFill/>
        </p:spPr>
        <p:txBody>
          <a:bodyPr vert="horz" wrap="square" lIns="0" tIns="0" rtlCol="0">
            <a:spAutoFit/>
          </a:bodyPr>
          <a:lstStyle/>
          <a:p>
            <a:r>
              <a:rPr lang="en-IN" sz="2200" b="1">
                <a:solidFill>
                  <a:srgbClr val="F8FAFC"/>
                </a:solidFill>
                <a:latin typeface="Segoe UI" panose="020B0502040204020203" pitchFamily="34" charset="0"/>
              </a:rPr>
              <a:t>4. Research Aim &amp; Objectives</a:t>
            </a:r>
          </a:p>
        </p:txBody>
      </p:sp>
      <p:sp>
        <p:nvSpPr>
          <p:cNvPr id="5" name="TextBox 4">
            <a:extLst>
              <a:ext uri="{FF2B5EF4-FFF2-40B4-BE49-F238E27FC236}">
                <a16:creationId xmlns:a16="http://schemas.microsoft.com/office/drawing/2014/main" id="{5D8B0D05-BA03-0C67-E124-02959474635B}"/>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Specific Engineering Goals (Prescribed by University of Mumbai Syllabus)</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E737A5E2-18E6-B31A-70EF-B64726DCA1AE}"/>
              </a:ext>
            </a:extLst>
          </p:cNvPr>
          <p:cNvSpPr/>
          <p:nvPr/>
        </p:nvSpPr>
        <p:spPr>
          <a:xfrm>
            <a:off x="508000" y="1460500"/>
            <a:ext cx="4318000" cy="4762500"/>
          </a:xfrm>
          <a:prstGeom prst="roundRect">
            <a:avLst/>
          </a:prstGeom>
          <a:solidFill>
            <a:srgbClr val="141F3E"/>
          </a:solidFill>
          <a:ln w="1524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38BDF8"/>
                </a:solidFill>
                <a:latin typeface="Segoe UI" panose="020B0502040204020203" pitchFamily="34" charset="0"/>
              </a:rPr>
              <a:t>PROJECT PRIMARY AIM</a:t>
            </a:r>
          </a:p>
          <a:p>
            <a:pPr>
              <a:spcBef>
                <a:spcPts val="300"/>
              </a:spcBef>
            </a:pPr>
            <a:r>
              <a:rPr lang="en-US" sz="1000">
                <a:solidFill>
                  <a:srgbClr val="F8FAFC"/>
                </a:solidFill>
                <a:latin typeface="Segoe UI" panose="020B0502040204020203" pitchFamily="34" charset="0"/>
              </a:rPr>
              <a:t>"To engineer an autonomous, lightweight, computer-vision-driven Video Assistant Referee (VAR) and sports intelligence platform that automates match event detection, player spatial tracking, referee card identification, penalty area collision alerts, and biometric telemetry monitoring in real time, delivering accessible and objective officiating assistance without the need for expensive proprietary infrastructure."</a:t>
            </a:r>
            <a:endParaRPr lang="en-IN" sz="100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39D456EF-44A5-9C45-C0F0-9ED6CAB642C9}"/>
              </a:ext>
            </a:extLst>
          </p:cNvPr>
          <p:cNvSpPr/>
          <p:nvPr/>
        </p:nvSpPr>
        <p:spPr>
          <a:xfrm>
            <a:off x="5080000" y="1460500"/>
            <a:ext cx="6604000" cy="47625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10B981"/>
                </a:solidFill>
                <a:latin typeface="Segoe UI" panose="020B0502040204020203" pitchFamily="34" charset="0"/>
              </a:rPr>
              <a:t>SPECIFIC PROJECT OBJECTIVES (1 TO 6)</a:t>
            </a:r>
          </a:p>
          <a:p>
            <a:pPr>
              <a:spcBef>
                <a:spcPts val="300"/>
              </a:spcBef>
            </a:pPr>
            <a:r>
              <a:rPr lang="en-IN" sz="1000">
                <a:solidFill>
                  <a:srgbClr val="F8FAFC"/>
                </a:solidFill>
                <a:latin typeface="Segoe UI" panose="020B0502040204020203" pitchFamily="34" charset="0"/>
              </a:rPr>
              <a:t>1. Real-Time Football Localization: Track the ball using adaptive MOG2 subtraction, geometric circularity (C &gt; 0.6), and Canny edge density.</a:t>
            </a:r>
          </a:p>
          <a:p>
            <a:pPr>
              <a:spcBef>
                <a:spcPts val="300"/>
              </a:spcBef>
            </a:pPr>
            <a:r>
              <a:rPr lang="en-IN" sz="1000">
                <a:solidFill>
                  <a:srgbClr val="F8FAFC"/>
                </a:solidFill>
                <a:latin typeface="Segoe UI" panose="020B0502040204020203" pitchFamily="34" charset="0"/>
              </a:rPr>
              <a:t>2. Multi-Player Detection &amp; Tracking: Track player silhouettes dynamically via contour morphology, aspect ratio, and convex hull solidity.</a:t>
            </a:r>
          </a:p>
          <a:p>
            <a:pPr>
              <a:spcBef>
                <a:spcPts val="300"/>
              </a:spcBef>
            </a:pPr>
            <a:r>
              <a:rPr lang="en-IN" sz="1000">
                <a:solidFill>
                  <a:srgbClr val="F8FAFC"/>
                </a:solidFill>
                <a:latin typeface="Segoe UI" panose="020B0502040204020203" pitchFamily="34" charset="0"/>
              </a:rPr>
              <a:t>3. Disciplinary Card Recognition: Automatically recognize brandished yellow and red cards using dual-threshold HSV color space segmentation.</a:t>
            </a:r>
          </a:p>
          <a:p>
            <a:pPr>
              <a:spcBef>
                <a:spcPts val="300"/>
              </a:spcBef>
            </a:pPr>
            <a:r>
              <a:rPr lang="en-IN" sz="1000">
                <a:solidFill>
                  <a:srgbClr val="F8FAFC"/>
                </a:solidFill>
                <a:latin typeface="Segoe UI" panose="020B0502040204020203" pitchFamily="34" charset="0"/>
              </a:rPr>
              <a:t>4. Penalty Area Proximity &amp; Collision: Compute Euclidean distance collisions between opposing players within the virtual 18-yard penalty box.</a:t>
            </a:r>
          </a:p>
          <a:p>
            <a:pPr>
              <a:spcBef>
                <a:spcPts val="300"/>
              </a:spcBef>
            </a:pPr>
            <a:r>
              <a:rPr lang="en-IN" sz="1000">
                <a:solidFill>
                  <a:srgbClr val="F8FAFC"/>
                </a:solidFill>
                <a:latin typeface="Segoe UI" panose="020B0502040204020203" pitchFamily="34" charset="0"/>
              </a:rPr>
              <a:t>5. Dynamic 2D Tactical Heatmaps: Continuously render pitch spatial occupancy using temporal decay accumulation and OpenCV JET colormaps.</a:t>
            </a:r>
          </a:p>
          <a:p>
            <a:pPr>
              <a:spcBef>
                <a:spcPts val="300"/>
              </a:spcBef>
            </a:pPr>
            <a:r>
              <a:rPr lang="en-IN" sz="1000">
                <a:solidFill>
                  <a:srgbClr val="F8FAFC"/>
                </a:solidFill>
                <a:latin typeface="Segoe UI" panose="020B0502040204020203" pitchFamily="34" charset="0"/>
              </a:rPr>
              <a:t>6. IoT Biometric Telemetry &amp; Studio HUD: Stream simulated heart rate (BPM) alongside live multipart MJPEG video in a React.js cockpit.</a:t>
            </a:r>
          </a:p>
        </p:txBody>
      </p:sp>
    </p:spTree>
    <p:extLst>
      <p:ext uri="{BB962C8B-B14F-4D97-AF65-F5344CB8AC3E}">
        <p14:creationId xmlns:p14="http://schemas.microsoft.com/office/powerpoint/2010/main" val="1590573811"/>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D4FECD-A5E8-A573-AD49-9557027DC9EE}"/>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39D1B86-0E8D-7409-2B40-3EDB6CB3324A}"/>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07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7445F2B2-4F14-4E1A-0E0C-8CEA85821AA0}"/>
              </a:ext>
            </a:extLst>
          </p:cNvPr>
          <p:cNvSpPr txBox="1"/>
          <p:nvPr/>
        </p:nvSpPr>
        <p:spPr>
          <a:xfrm>
            <a:off x="508000" y="381000"/>
            <a:ext cx="11176000" cy="384721"/>
          </a:xfrm>
          <a:prstGeom prst="rect">
            <a:avLst/>
          </a:prstGeom>
          <a:noFill/>
        </p:spPr>
        <p:txBody>
          <a:bodyPr vert="horz" wrap="square" lIns="0" tIns="0" rtlCol="0">
            <a:spAutoFit/>
          </a:bodyPr>
          <a:lstStyle/>
          <a:p>
            <a:r>
              <a:rPr lang="en-IN" sz="2200" b="1">
                <a:solidFill>
                  <a:srgbClr val="F8FAFC"/>
                </a:solidFill>
                <a:latin typeface="Segoe UI" panose="020B0502040204020203" pitchFamily="34" charset="0"/>
              </a:rPr>
              <a:t>5. Proposed System Architecture</a:t>
            </a:r>
          </a:p>
        </p:txBody>
      </p:sp>
      <p:sp>
        <p:nvSpPr>
          <p:cNvPr id="5" name="TextBox 4">
            <a:extLst>
              <a:ext uri="{FF2B5EF4-FFF2-40B4-BE49-F238E27FC236}">
                <a16:creationId xmlns:a16="http://schemas.microsoft.com/office/drawing/2014/main" id="{3039FF87-668B-F7FC-5FCF-0E9DB7FE1E5E}"/>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End-to-End System Architecture &amp; 6-Step Processing Workflow (From Synopsis Figure 6.1)</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C92E253E-D345-BDE2-5D11-BD6F623FBBB0}"/>
              </a:ext>
            </a:extLst>
          </p:cNvPr>
          <p:cNvSpPr/>
          <p:nvPr/>
        </p:nvSpPr>
        <p:spPr>
          <a:xfrm>
            <a:off x="482600" y="1371600"/>
            <a:ext cx="11226800" cy="3098800"/>
          </a:xfrm>
          <a:prstGeom prst="roundRect">
            <a:avLst/>
          </a:prstGeom>
          <a:solidFill>
            <a:srgbClr val="141F3E"/>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5FD7C4DF-1A61-B6B1-3002-043AE431B9B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8000" y="1397000"/>
            <a:ext cx="11176000" cy="3048000"/>
          </a:xfrm>
          <a:prstGeom prst="rect">
            <a:avLst/>
          </a:prstGeom>
        </p:spPr>
      </p:pic>
      <p:sp>
        <p:nvSpPr>
          <p:cNvPr id="9" name="TextBox 8">
            <a:extLst>
              <a:ext uri="{FF2B5EF4-FFF2-40B4-BE49-F238E27FC236}">
                <a16:creationId xmlns:a16="http://schemas.microsoft.com/office/drawing/2014/main" id="{93DE5DD3-D5CA-8BAF-BF69-FC5CD9B63130}"/>
              </a:ext>
            </a:extLst>
          </p:cNvPr>
          <p:cNvSpPr txBox="1"/>
          <p:nvPr/>
        </p:nvSpPr>
        <p:spPr>
          <a:xfrm>
            <a:off x="508000" y="4521200"/>
            <a:ext cx="11176000" cy="200055"/>
          </a:xfrm>
          <a:prstGeom prst="rect">
            <a:avLst/>
          </a:prstGeom>
          <a:noFill/>
        </p:spPr>
        <p:txBody>
          <a:bodyPr vert="horz" wrap="square" lIns="0" tIns="0" rtlCol="0">
            <a:spAutoFit/>
          </a:bodyPr>
          <a:lstStyle/>
          <a:p>
            <a:r>
              <a:rPr lang="en-IN" sz="1000" b="1">
                <a:solidFill>
                  <a:srgbClr val="38BDF8"/>
                </a:solidFill>
                <a:latin typeface="Segoe UI" panose="020B0502040204020203" pitchFamily="34" charset="0"/>
              </a:rPr>
              <a:t>Figure 6.1: Autonomous VAR System Architecture &amp; Block Diagram</a:t>
            </a:r>
          </a:p>
        </p:txBody>
      </p:sp>
      <p:sp>
        <p:nvSpPr>
          <p:cNvPr id="10" name="Rectangle: Rounded Corners 9">
            <a:extLst>
              <a:ext uri="{FF2B5EF4-FFF2-40B4-BE49-F238E27FC236}">
                <a16:creationId xmlns:a16="http://schemas.microsoft.com/office/drawing/2014/main" id="{E24F3F04-5ABB-C52E-7B03-CA40465C5D6F}"/>
              </a:ext>
            </a:extLst>
          </p:cNvPr>
          <p:cNvSpPr/>
          <p:nvPr/>
        </p:nvSpPr>
        <p:spPr>
          <a:xfrm>
            <a:off x="508000" y="4889500"/>
            <a:ext cx="1778000" cy="1206500"/>
          </a:xfrm>
          <a:prstGeom prst="roundRect">
            <a:avLst/>
          </a:prstGeom>
          <a:solidFill>
            <a:srgbClr val="141F3E"/>
          </a:solidFill>
          <a:ln w="1524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127000" rtlCol="0" anchor="t"/>
          <a:lstStyle/>
          <a:p>
            <a:r>
              <a:rPr lang="en-US" sz="1100" b="1">
                <a:solidFill>
                  <a:srgbClr val="38BDF8"/>
                </a:solidFill>
                <a:latin typeface="Segoe UI" panose="020B0502040204020203" pitchFamily="34" charset="0"/>
              </a:rPr>
              <a:t>Step 1: Setup</a:t>
            </a:r>
          </a:p>
          <a:p>
            <a:pPr>
              <a:spcBef>
                <a:spcPts val="400"/>
              </a:spcBef>
            </a:pPr>
            <a:r>
              <a:rPr lang="en-US" sz="900">
                <a:solidFill>
                  <a:srgbClr val="F8FAFC"/>
                </a:solidFill>
                <a:latin typeface="Segoe UI" panose="020B0502040204020203" pitchFamily="34" charset="0"/>
              </a:rPr>
              <a:t>Roster &amp; pitch calibration</a:t>
            </a:r>
            <a:endParaRPr lang="en-IN" sz="9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8D236D33-36DB-A5B5-2EAD-0F3380F91263}"/>
              </a:ext>
            </a:extLst>
          </p:cNvPr>
          <p:cNvSpPr/>
          <p:nvPr/>
        </p:nvSpPr>
        <p:spPr>
          <a:xfrm>
            <a:off x="2387600" y="4889500"/>
            <a:ext cx="1778000" cy="1206500"/>
          </a:xfrm>
          <a:prstGeom prst="roundRect">
            <a:avLst/>
          </a:prstGeom>
          <a:solidFill>
            <a:srgbClr val="141F3E"/>
          </a:solidFill>
          <a:ln w="1524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127000" rtlCol="0" anchor="t"/>
          <a:lstStyle/>
          <a:p>
            <a:r>
              <a:rPr lang="en-US" sz="1100" b="1">
                <a:solidFill>
                  <a:srgbClr val="38BDF8"/>
                </a:solidFill>
                <a:latin typeface="Segoe UI" panose="020B0502040204020203" pitchFamily="34" charset="0"/>
              </a:rPr>
              <a:t>Step 2: Ingestion</a:t>
            </a:r>
          </a:p>
          <a:p>
            <a:pPr>
              <a:spcBef>
                <a:spcPts val="400"/>
              </a:spcBef>
            </a:pPr>
            <a:r>
              <a:rPr lang="en-US" sz="900">
                <a:solidFill>
                  <a:srgbClr val="F8FAFC"/>
                </a:solidFill>
                <a:latin typeface="Segoe UI" panose="020B0502040204020203" pitchFamily="34" charset="0"/>
              </a:rPr>
              <a:t>FastAPI multi-cam stream</a:t>
            </a:r>
            <a:endParaRPr lang="en-IN" sz="900">
              <a:solidFill>
                <a:srgbClr val="F8FAFC"/>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7BE24FD0-03E6-2D68-82A8-C5E49437DA63}"/>
              </a:ext>
            </a:extLst>
          </p:cNvPr>
          <p:cNvSpPr/>
          <p:nvPr/>
        </p:nvSpPr>
        <p:spPr>
          <a:xfrm>
            <a:off x="4267200" y="4889500"/>
            <a:ext cx="1778000" cy="12065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127000" rtlCol="0" anchor="t"/>
          <a:lstStyle/>
          <a:p>
            <a:r>
              <a:rPr lang="en-US" sz="1100" b="1">
                <a:solidFill>
                  <a:srgbClr val="10B981"/>
                </a:solidFill>
                <a:latin typeface="Segoe UI" panose="020B0502040204020203" pitchFamily="34" charset="0"/>
              </a:rPr>
              <a:t>Step 3: CV Core</a:t>
            </a:r>
          </a:p>
          <a:p>
            <a:pPr>
              <a:spcBef>
                <a:spcPts val="400"/>
              </a:spcBef>
            </a:pPr>
            <a:r>
              <a:rPr lang="en-US" sz="900">
                <a:solidFill>
                  <a:srgbClr val="F8FAFC"/>
                </a:solidFill>
                <a:latin typeface="Segoe UI" panose="020B0502040204020203" pitchFamily="34" charset="0"/>
              </a:rPr>
              <a:t>MOG2, circularity &amp; HSV</a:t>
            </a:r>
            <a:endParaRPr lang="en-IN" sz="900">
              <a:solidFill>
                <a:srgbClr val="F8FAFC"/>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B567F957-87A0-6D73-DC72-35320E5FAB7F}"/>
              </a:ext>
            </a:extLst>
          </p:cNvPr>
          <p:cNvSpPr/>
          <p:nvPr/>
        </p:nvSpPr>
        <p:spPr>
          <a:xfrm>
            <a:off x="6146800" y="4889500"/>
            <a:ext cx="1778000" cy="12065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127000" rtlCol="0" anchor="t"/>
          <a:lstStyle/>
          <a:p>
            <a:r>
              <a:rPr lang="en-US" sz="1100" b="1">
                <a:solidFill>
                  <a:srgbClr val="10B981"/>
                </a:solidFill>
                <a:latin typeface="Segoe UI" panose="020B0502040204020203" pitchFamily="34" charset="0"/>
              </a:rPr>
              <a:t>Step 4: Spatial</a:t>
            </a:r>
          </a:p>
          <a:p>
            <a:pPr>
              <a:spcBef>
                <a:spcPts val="400"/>
              </a:spcBef>
            </a:pPr>
            <a:r>
              <a:rPr lang="en-US" sz="900">
                <a:solidFill>
                  <a:srgbClr val="F8FAFC"/>
                </a:solidFill>
                <a:latin typeface="Segoe UI" panose="020B0502040204020203" pitchFamily="34" charset="0"/>
              </a:rPr>
              <a:t>Boundary &amp; box collision</a:t>
            </a:r>
            <a:endParaRPr lang="en-IN" sz="900">
              <a:solidFill>
                <a:srgbClr val="F8FAFC"/>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FB2B5BA0-E6D0-EF46-AEE7-BB09A8A5D066}"/>
              </a:ext>
            </a:extLst>
          </p:cNvPr>
          <p:cNvSpPr/>
          <p:nvPr/>
        </p:nvSpPr>
        <p:spPr>
          <a:xfrm>
            <a:off x="8026400" y="4889500"/>
            <a:ext cx="1778000" cy="1206500"/>
          </a:xfrm>
          <a:prstGeom prst="roundRect">
            <a:avLst/>
          </a:prstGeom>
          <a:solidFill>
            <a:srgbClr val="141F3E"/>
          </a:solidFill>
          <a:ln w="1524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127000" rtlCol="0" anchor="t"/>
          <a:lstStyle/>
          <a:p>
            <a:r>
              <a:rPr lang="en-US" sz="1100" b="1">
                <a:solidFill>
                  <a:srgbClr val="38BDF8"/>
                </a:solidFill>
                <a:latin typeface="Segoe UI" panose="020B0502040204020203" pitchFamily="34" charset="0"/>
              </a:rPr>
              <a:t>Step 5: Heatmap</a:t>
            </a:r>
          </a:p>
          <a:p>
            <a:pPr>
              <a:spcBef>
                <a:spcPts val="400"/>
              </a:spcBef>
            </a:pPr>
            <a:r>
              <a:rPr lang="en-US" sz="900">
                <a:solidFill>
                  <a:srgbClr val="F8FAFC"/>
                </a:solidFill>
                <a:latin typeface="Segoe UI" panose="020B0502040204020203" pitchFamily="34" charset="0"/>
              </a:rPr>
              <a:t>Temporal decay &amp; IoT BPM</a:t>
            </a:r>
            <a:endParaRPr lang="en-IN" sz="900">
              <a:solidFill>
                <a:srgbClr val="F8FAFC"/>
              </a:solidFill>
              <a:latin typeface="Segoe UI" panose="020B0502040204020203" pitchFamily="34" charset="0"/>
            </a:endParaRPr>
          </a:p>
        </p:txBody>
      </p:sp>
      <p:sp>
        <p:nvSpPr>
          <p:cNvPr id="15" name="Rectangle: Rounded Corners 14">
            <a:extLst>
              <a:ext uri="{FF2B5EF4-FFF2-40B4-BE49-F238E27FC236}">
                <a16:creationId xmlns:a16="http://schemas.microsoft.com/office/drawing/2014/main" id="{814D8068-EE4C-DDB7-DFF4-4ADA93A4A065}"/>
              </a:ext>
            </a:extLst>
          </p:cNvPr>
          <p:cNvSpPr/>
          <p:nvPr/>
        </p:nvSpPr>
        <p:spPr>
          <a:xfrm>
            <a:off x="9906000" y="4889500"/>
            <a:ext cx="1778000" cy="1206500"/>
          </a:xfrm>
          <a:prstGeom prst="roundRect">
            <a:avLst/>
          </a:prstGeom>
          <a:solidFill>
            <a:srgbClr val="141F3E"/>
          </a:solidFill>
          <a:ln w="1524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127000" rtlCol="0" anchor="t"/>
          <a:lstStyle/>
          <a:p>
            <a:r>
              <a:rPr lang="en-US" sz="1100" b="1">
                <a:solidFill>
                  <a:srgbClr val="38BDF8"/>
                </a:solidFill>
                <a:latin typeface="Segoe UI" panose="020B0502040204020203" pitchFamily="34" charset="0"/>
              </a:rPr>
              <a:t>Step 6: Studio HUD</a:t>
            </a:r>
          </a:p>
          <a:p>
            <a:pPr>
              <a:spcBef>
                <a:spcPts val="400"/>
              </a:spcBef>
            </a:pPr>
            <a:r>
              <a:rPr lang="en-US" sz="900">
                <a:solidFill>
                  <a:srgbClr val="F8FAFC"/>
                </a:solidFill>
                <a:latin typeface="Segoe UI" panose="020B0502040204020203" pitchFamily="34" charset="0"/>
              </a:rPr>
              <a:t>React MJPEG alert cockpit</a:t>
            </a:r>
            <a:endParaRPr lang="en-IN" sz="900">
              <a:solidFill>
                <a:srgbClr val="F8FAFC"/>
              </a:solidFill>
              <a:latin typeface="Segoe UI" panose="020B0502040204020203" pitchFamily="34" charset="0"/>
            </a:endParaRPr>
          </a:p>
        </p:txBody>
      </p:sp>
    </p:spTree>
    <p:extLst>
      <p:ext uri="{BB962C8B-B14F-4D97-AF65-F5344CB8AC3E}">
        <p14:creationId xmlns:p14="http://schemas.microsoft.com/office/powerpoint/2010/main" val="1795493189"/>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6"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circle(in)">
                                      <p:cBhvr>
                                        <p:cTn id="15" dur="500"/>
                                        <p:tgtEl>
                                          <p:spTgt spid="6"/>
                                        </p:tgtEl>
                                      </p:cBhvr>
                                    </p:animEffect>
                                  </p:childTnLst>
                                </p:cTn>
                              </p:par>
                              <p:par>
                                <p:cTn id="16" presetID="6" presetClass="entr" presetSubtype="16"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circle(in)">
                                      <p:cBhvr>
                                        <p:cTn id="18" dur="500"/>
                                        <p:tgtEl>
                                          <p:spTgt spid="8"/>
                                        </p:tgtEl>
                                      </p:cBhvr>
                                    </p:animEffect>
                                  </p:childTnLst>
                                </p:cTn>
                              </p:par>
                              <p:par>
                                <p:cTn id="19" presetID="2" presetClass="entr" presetSubtype="4" fill="hold" grpId="0" nodeType="withEffect">
                                  <p:stCondLst>
                                    <p:cond delay="30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38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46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54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6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70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ppt_x"/>
                                          </p:val>
                                        </p:tav>
                                        <p:tav tm="100000">
                                          <p:val>
                                            <p:strVal val="#ppt_x"/>
                                          </p:val>
                                        </p:tav>
                                      </p:tavLst>
                                    </p:anim>
                                    <p:anim calcmode="lin" valueType="num">
                                      <p:cBhvr additive="base">
                                        <p:cTn id="4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10" grpId="0" animBg="1"/>
      <p:bldP spid="11" grpId="0" animBg="1"/>
      <p:bldP spid="12" grpId="0" animBg="1"/>
      <p:bldP spid="13" grpId="0" animBg="1"/>
      <p:bldP spid="14"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651DE7-CA29-E377-212A-B5061FE16C86}"/>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C7B4F45-4A17-F82F-17F6-B924A46B385F}"/>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08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1EFECB67-D09D-7F34-D323-AF7547AD5589}"/>
              </a:ext>
            </a:extLst>
          </p:cNvPr>
          <p:cNvSpPr txBox="1"/>
          <p:nvPr/>
        </p:nvSpPr>
        <p:spPr>
          <a:xfrm>
            <a:off x="508000" y="381000"/>
            <a:ext cx="11176000" cy="384721"/>
          </a:xfrm>
          <a:prstGeom prst="rect">
            <a:avLst/>
          </a:prstGeom>
          <a:noFill/>
        </p:spPr>
        <p:txBody>
          <a:bodyPr vert="horz" wrap="square" lIns="0" tIns="0" rtlCol="0">
            <a:spAutoFit/>
          </a:bodyPr>
          <a:lstStyle/>
          <a:p>
            <a:r>
              <a:rPr lang="en-US" sz="2200" b="1">
                <a:solidFill>
                  <a:srgbClr val="F8FAFC"/>
                </a:solidFill>
                <a:latin typeface="Segoe UI" panose="020B0502040204020203" pitchFamily="34" charset="0"/>
              </a:rPr>
              <a:t>6. Methodology: Ball Tracking &amp; Boundary Engine</a:t>
            </a:r>
            <a:endParaRPr lang="en-IN" sz="2200" b="1">
              <a:solidFill>
                <a:srgbClr val="F8FAFC"/>
              </a:solidFill>
              <a:latin typeface="Segoe UI" panose="020B0502040204020203" pitchFamily="34" charset="0"/>
            </a:endParaRPr>
          </a:p>
        </p:txBody>
      </p:sp>
      <p:sp>
        <p:nvSpPr>
          <p:cNvPr id="5" name="TextBox 4">
            <a:extLst>
              <a:ext uri="{FF2B5EF4-FFF2-40B4-BE49-F238E27FC236}">
                <a16:creationId xmlns:a16="http://schemas.microsoft.com/office/drawing/2014/main" id="{12CC1396-830C-C8B2-6563-5AAF8567D8CB}"/>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OpenCV Image Processing: Adaptive MOG2 Subtraction &amp; Geometric Circularity Filtering</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989172BD-222D-ED6F-151D-A39064BFF164}"/>
              </a:ext>
            </a:extLst>
          </p:cNvPr>
          <p:cNvSpPr/>
          <p:nvPr/>
        </p:nvSpPr>
        <p:spPr>
          <a:xfrm>
            <a:off x="508000" y="1460500"/>
            <a:ext cx="5461000" cy="3937000"/>
          </a:xfrm>
          <a:prstGeom prst="roundRect">
            <a:avLst/>
          </a:prstGeom>
          <a:solidFill>
            <a:srgbClr val="141F3E"/>
          </a:solidFill>
          <a:ln w="1524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38BDF8"/>
                </a:solidFill>
                <a:latin typeface="Segoe UI" panose="020B0502040204020203" pitchFamily="34" charset="0"/>
              </a:rPr>
              <a:t>ALGORITHMIC METHODOLOGY &amp; FORMULAS</a:t>
            </a:r>
          </a:p>
          <a:p>
            <a:pPr>
              <a:spcBef>
                <a:spcPts val="300"/>
              </a:spcBef>
            </a:pPr>
            <a:r>
              <a:rPr lang="en-IN" sz="1000">
                <a:solidFill>
                  <a:srgbClr val="F8FAFC"/>
                </a:solidFill>
                <a:latin typeface="Segoe UI" panose="020B0502040204020203" pitchFamily="34" charset="0"/>
              </a:rPr>
              <a:t>• Adaptive MOG2 Background Subtraction:</a:t>
            </a:r>
          </a:p>
          <a:p>
            <a:pPr>
              <a:spcBef>
                <a:spcPts val="300"/>
              </a:spcBef>
            </a:pPr>
            <a:r>
              <a:rPr lang="en-IN" sz="1000">
                <a:solidFill>
                  <a:srgbClr val="F8FAFC"/>
                </a:solidFill>
                <a:latin typeface="Segoe UI" panose="020B0502040204020203" pitchFamily="34" charset="0"/>
              </a:rPr>
              <a:t>  cv2.createBackgroundSubtractorMOG2(history=500, varThreshold=50, detectShadows=False)</a:t>
            </a:r>
          </a:p>
          <a:p>
            <a:pPr>
              <a:spcBef>
                <a:spcPts val="300"/>
              </a:spcBef>
            </a:pPr>
            <a:r>
              <a:rPr lang="en-IN" sz="1000">
                <a:solidFill>
                  <a:srgbClr val="F8FAFC"/>
                </a:solidFill>
                <a:latin typeface="Segoe UI" panose="020B0502040204020203" pitchFamily="34" charset="0"/>
              </a:rPr>
              <a:t>  Dynamically models shifting stadium illumination and shadow occlusions.</a:t>
            </a:r>
          </a:p>
          <a:p>
            <a:pPr>
              <a:spcBef>
                <a:spcPts val="300"/>
              </a:spcBef>
            </a:pPr>
            <a:r>
              <a:rPr lang="en-IN" sz="1000">
                <a:solidFill>
                  <a:srgbClr val="F8FAFC"/>
                </a:solidFill>
                <a:latin typeface="Segoe UI" panose="020B0502040204020203" pitchFamily="34" charset="0"/>
              </a:rPr>
              <a:t>• Circularity Heuristic Formula:</a:t>
            </a:r>
          </a:p>
          <a:p>
            <a:pPr>
              <a:spcBef>
                <a:spcPts val="300"/>
              </a:spcBef>
            </a:pPr>
            <a:r>
              <a:rPr lang="en-IN" sz="1000">
                <a:solidFill>
                  <a:srgbClr val="F8FAFC"/>
                </a:solidFill>
                <a:latin typeface="Segoe UI" panose="020B0502040204020203" pitchFamily="34" charset="0"/>
              </a:rPr>
              <a:t>  Circularity C = (4 * </a:t>
            </a:r>
            <a:r>
              <a:rPr lang="el-GR" sz="1000">
                <a:solidFill>
                  <a:srgbClr val="F8FAFC"/>
                </a:solidFill>
                <a:latin typeface="Segoe UI" panose="020B0502040204020203" pitchFamily="34" charset="0"/>
              </a:rPr>
              <a:t>π * </a:t>
            </a:r>
            <a:r>
              <a:rPr lang="en-IN" sz="1000">
                <a:solidFill>
                  <a:srgbClr val="F8FAFC"/>
                </a:solidFill>
                <a:latin typeface="Segoe UI" panose="020B0502040204020203" pitchFamily="34" charset="0"/>
              </a:rPr>
              <a:t>Area) / (Perimeter)² &gt; 0.60</a:t>
            </a:r>
          </a:p>
          <a:p>
            <a:pPr>
              <a:spcBef>
                <a:spcPts val="300"/>
              </a:spcBef>
            </a:pPr>
            <a:r>
              <a:rPr lang="en-IN" sz="1000">
                <a:solidFill>
                  <a:srgbClr val="F8FAFC"/>
                </a:solidFill>
                <a:latin typeface="Segoe UI" panose="020B0502040204020203" pitchFamily="34" charset="0"/>
              </a:rPr>
              <a:t>  Filters out irregular ground noise, player cleats, and motion blur.</a:t>
            </a:r>
          </a:p>
          <a:p>
            <a:pPr>
              <a:spcBef>
                <a:spcPts val="300"/>
              </a:spcBef>
            </a:pPr>
            <a:r>
              <a:rPr lang="en-IN" sz="1000">
                <a:solidFill>
                  <a:srgbClr val="F8FAFC"/>
                </a:solidFill>
                <a:latin typeface="Segoe UI" panose="020B0502040204020203" pitchFamily="34" charset="0"/>
              </a:rPr>
              <a:t>• Canny Edge Seam Verification:</a:t>
            </a:r>
          </a:p>
          <a:p>
            <a:pPr>
              <a:spcBef>
                <a:spcPts val="300"/>
              </a:spcBef>
            </a:pPr>
            <a:r>
              <a:rPr lang="en-IN" sz="1000">
                <a:solidFill>
                  <a:srgbClr val="F8FAFC"/>
                </a:solidFill>
                <a:latin typeface="Segoe UI" panose="020B0502040204020203" pitchFamily="34" charset="0"/>
              </a:rPr>
              <a:t>  Validates high-gradient spherical boundary seams to confirm genuine ball candidates.</a:t>
            </a:r>
          </a:p>
          <a:p>
            <a:pPr>
              <a:spcBef>
                <a:spcPts val="300"/>
              </a:spcBef>
            </a:pPr>
            <a:r>
              <a:rPr lang="en-IN" sz="1000">
                <a:solidFill>
                  <a:srgbClr val="F8FAFC"/>
                </a:solidFill>
                <a:latin typeface="Segoe UI" panose="020B0502040204020203" pitchFamily="34" charset="0"/>
              </a:rPr>
              <a:t>• Boundary Crosshair Detection:</a:t>
            </a:r>
          </a:p>
          <a:p>
            <a:pPr>
              <a:spcBef>
                <a:spcPts val="300"/>
              </a:spcBef>
            </a:pPr>
            <a:r>
              <a:rPr lang="en-IN" sz="1000">
                <a:solidFill>
                  <a:srgbClr val="F8FAFC"/>
                </a:solidFill>
                <a:latin typeface="Segoe UI" panose="020B0502040204020203" pitchFamily="34" charset="0"/>
              </a:rPr>
              <a:t>  Maps calibrated pitch boundary lines. Instant intersection triggers 'Ball Out of Bounds' incident log.</a:t>
            </a:r>
          </a:p>
        </p:txBody>
      </p:sp>
      <p:sp>
        <p:nvSpPr>
          <p:cNvPr id="7" name="Rectangle: Rounded Corners 6">
            <a:extLst>
              <a:ext uri="{FF2B5EF4-FFF2-40B4-BE49-F238E27FC236}">
                <a16:creationId xmlns:a16="http://schemas.microsoft.com/office/drawing/2014/main" id="{7361A08C-11E3-257C-E27B-64C9A57B39F0}"/>
              </a:ext>
            </a:extLst>
          </p:cNvPr>
          <p:cNvSpPr/>
          <p:nvPr/>
        </p:nvSpPr>
        <p:spPr>
          <a:xfrm>
            <a:off x="6223000" y="1460500"/>
            <a:ext cx="5461000" cy="39370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10B981"/>
                </a:solidFill>
                <a:latin typeface="Segoe UI" panose="020B0502040204020203" pitchFamily="34" charset="0"/>
              </a:rPr>
              <a:t>BACKEND PYTHON / OPENCV IMPLEMENTATION</a:t>
            </a:r>
          </a:p>
          <a:p>
            <a:pPr>
              <a:spcBef>
                <a:spcPts val="200"/>
              </a:spcBef>
            </a:pPr>
            <a:r>
              <a:rPr lang="en-IN" sz="900">
                <a:solidFill>
                  <a:srgbClr val="BAE6FD"/>
                </a:solidFill>
                <a:latin typeface="Consolas" panose="020B0609020204030204" pitchFamily="49" charset="0"/>
              </a:rPr>
              <a:t># 1. Foreground mask via MOG2</a:t>
            </a:r>
          </a:p>
          <a:p>
            <a:pPr>
              <a:spcBef>
                <a:spcPts val="200"/>
              </a:spcBef>
            </a:pPr>
            <a:r>
              <a:rPr lang="en-IN" sz="900">
                <a:solidFill>
                  <a:srgbClr val="BAE6FD"/>
                </a:solidFill>
                <a:latin typeface="Consolas" panose="020B0609020204030204" pitchFamily="49" charset="0"/>
              </a:rPr>
              <a:t>fg_mask = bg_subtractor.apply(frame)</a:t>
            </a:r>
          </a:p>
          <a:p>
            <a:pPr>
              <a:spcBef>
                <a:spcPts val="200"/>
              </a:spcBef>
            </a:pPr>
            <a:r>
              <a:rPr lang="en-IN" sz="900">
                <a:solidFill>
                  <a:srgbClr val="BAE6FD"/>
                </a:solidFill>
                <a:latin typeface="Consolas" panose="020B0609020204030204" pitchFamily="49" charset="0"/>
              </a:rPr>
              <a:t>contours, _ = cv2.findContours(fg_mask, cv2.RETR_EXTERNAL, cv2.CHAIN_APPROX_SIMPLE)</a:t>
            </a:r>
          </a:p>
          <a:p>
            <a:pPr>
              <a:spcBef>
                <a:spcPts val="200"/>
              </a:spcBef>
            </a:pPr>
            <a:endParaRPr lang="en-IN" sz="900">
              <a:solidFill>
                <a:srgbClr val="BAE6FD"/>
              </a:solidFill>
              <a:latin typeface="Consolas" panose="020B0609020204030204" pitchFamily="49" charset="0"/>
            </a:endParaRPr>
          </a:p>
          <a:p>
            <a:pPr>
              <a:spcBef>
                <a:spcPts val="200"/>
              </a:spcBef>
            </a:pPr>
            <a:r>
              <a:rPr lang="en-IN" sz="900">
                <a:solidFill>
                  <a:srgbClr val="BAE6FD"/>
                </a:solidFill>
                <a:latin typeface="Consolas" panose="020B0609020204030204" pitchFamily="49" charset="0"/>
              </a:rPr>
              <a:t># 2. Calculate true geometric circularity</a:t>
            </a:r>
          </a:p>
          <a:p>
            <a:pPr>
              <a:spcBef>
                <a:spcPts val="200"/>
              </a:spcBef>
            </a:pPr>
            <a:r>
              <a:rPr lang="en-IN" sz="900">
                <a:solidFill>
                  <a:srgbClr val="BAE6FD"/>
                </a:solidFill>
                <a:latin typeface="Consolas" panose="020B0609020204030204" pitchFamily="49" charset="0"/>
              </a:rPr>
              <a:t>perimeter = cv2.arcLength(cnt, True)</a:t>
            </a:r>
          </a:p>
          <a:p>
            <a:pPr>
              <a:spcBef>
                <a:spcPts val="200"/>
              </a:spcBef>
            </a:pPr>
            <a:r>
              <a:rPr lang="en-IN" sz="900">
                <a:solidFill>
                  <a:srgbClr val="BAE6FD"/>
                </a:solidFill>
                <a:latin typeface="Consolas" panose="020B0609020204030204" pitchFamily="49" charset="0"/>
              </a:rPr>
              <a:t>if perimeter &gt; 0:</a:t>
            </a:r>
          </a:p>
          <a:p>
            <a:pPr>
              <a:spcBef>
                <a:spcPts val="200"/>
              </a:spcBef>
            </a:pPr>
            <a:r>
              <a:rPr lang="en-IN" sz="900">
                <a:solidFill>
                  <a:srgbClr val="BAE6FD"/>
                </a:solidFill>
                <a:latin typeface="Consolas" panose="020B0609020204030204" pitchFamily="49" charset="0"/>
              </a:rPr>
              <a:t>    circularity = 4 * math.pi * (area / (perimeter ** 2))</a:t>
            </a:r>
          </a:p>
          <a:p>
            <a:pPr>
              <a:spcBef>
                <a:spcPts val="200"/>
              </a:spcBef>
            </a:pPr>
            <a:r>
              <a:rPr lang="en-IN" sz="900">
                <a:solidFill>
                  <a:srgbClr val="BAE6FD"/>
                </a:solidFill>
                <a:latin typeface="Consolas" panose="020B0609020204030204" pitchFamily="49" charset="0"/>
              </a:rPr>
              <a:t>    if circularity &gt; 0.60 and 0.8 &lt;= (w / h) &lt;= 1.2:</a:t>
            </a:r>
          </a:p>
          <a:p>
            <a:pPr>
              <a:spcBef>
                <a:spcPts val="200"/>
              </a:spcBef>
            </a:pPr>
            <a:r>
              <a:rPr lang="en-IN" sz="900">
                <a:solidFill>
                  <a:srgbClr val="BAE6FD"/>
                </a:solidFill>
                <a:latin typeface="Consolas" panose="020B0609020204030204" pitchFamily="49" charset="0"/>
              </a:rPr>
              <a:t>        best_ball = (cx, cy, r)</a:t>
            </a:r>
          </a:p>
          <a:p>
            <a:pPr>
              <a:spcBef>
                <a:spcPts val="200"/>
              </a:spcBef>
            </a:pPr>
            <a:endParaRPr lang="en-IN" sz="900">
              <a:solidFill>
                <a:srgbClr val="BAE6FD"/>
              </a:solidFill>
              <a:latin typeface="Consolas" panose="020B0609020204030204" pitchFamily="49" charset="0"/>
            </a:endParaRPr>
          </a:p>
          <a:p>
            <a:pPr>
              <a:spcBef>
                <a:spcPts val="200"/>
              </a:spcBef>
            </a:pPr>
            <a:r>
              <a:rPr lang="en-IN" sz="900">
                <a:solidFill>
                  <a:srgbClr val="BAE6FD"/>
                </a:solidFill>
                <a:latin typeface="Consolas" panose="020B0609020204030204" pitchFamily="49" charset="0"/>
              </a:rPr>
              <a:t># 3. Out-of-bounds line intersection</a:t>
            </a:r>
          </a:p>
          <a:p>
            <a:pPr>
              <a:spcBef>
                <a:spcPts val="200"/>
              </a:spcBef>
            </a:pPr>
            <a:r>
              <a:rPr lang="en-IN" sz="900">
                <a:solidFill>
                  <a:srgbClr val="BAE6FD"/>
                </a:solidFill>
                <a:latin typeface="Consolas" panose="020B0609020204030204" pitchFamily="49" charset="0"/>
              </a:rPr>
              <a:t>if cx &lt; BOUND_LEFT or cx &gt; BOUND_RIGHT:</a:t>
            </a:r>
          </a:p>
          <a:p>
            <a:pPr>
              <a:spcBef>
                <a:spcPts val="200"/>
              </a:spcBef>
            </a:pPr>
            <a:r>
              <a:rPr lang="en-IN" sz="900">
                <a:solidFill>
                  <a:srgbClr val="BAE6FD"/>
                </a:solidFill>
                <a:latin typeface="Consolas" panose="020B0609020204030204" pitchFamily="49" charset="0"/>
              </a:rPr>
              <a:t>    log_event('Ball Out of Bounds', 'Football exited field', 'red')</a:t>
            </a:r>
          </a:p>
        </p:txBody>
      </p:sp>
      <p:sp>
        <p:nvSpPr>
          <p:cNvPr id="8" name="Rectangle 7">
            <a:extLst>
              <a:ext uri="{FF2B5EF4-FFF2-40B4-BE49-F238E27FC236}">
                <a16:creationId xmlns:a16="http://schemas.microsoft.com/office/drawing/2014/main" id="{4E831818-6FC5-E1D4-5E37-DC1ABD3BD447}"/>
              </a:ext>
            </a:extLst>
          </p:cNvPr>
          <p:cNvSpPr/>
          <p:nvPr/>
        </p:nvSpPr>
        <p:spPr>
          <a:xfrm>
            <a:off x="508000" y="5905500"/>
            <a:ext cx="11176000" cy="25400"/>
          </a:xfrm>
          <a:prstGeom prst="rect">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9F5B9AC2-A023-8973-64CC-5D61AB507A7F}"/>
              </a:ext>
            </a:extLst>
          </p:cNvPr>
          <p:cNvSpPr/>
          <p:nvPr/>
        </p:nvSpPr>
        <p:spPr>
          <a:xfrm>
            <a:off x="762000" y="5689600"/>
            <a:ext cx="431800" cy="431800"/>
          </a:xfrm>
          <a:prstGeom prst="ellipse">
            <a:avLst/>
          </a:prstGeom>
          <a:solidFill>
            <a:srgbClr val="F8FAFC"/>
          </a:solidFill>
          <a:ln w="254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t>⚽</a:t>
            </a:r>
          </a:p>
        </p:txBody>
      </p:sp>
    </p:spTree>
    <p:extLst>
      <p:ext uri="{BB962C8B-B14F-4D97-AF65-F5344CB8AC3E}">
        <p14:creationId xmlns:p14="http://schemas.microsoft.com/office/powerpoint/2010/main" val="3082026204"/>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par>
                          <p:cTn id="21" fill="hold">
                            <p:stCondLst>
                              <p:cond delay="700"/>
                            </p:stCondLst>
                            <p:childTnLst>
                              <p:par>
                                <p:cTn id="22" presetID="6" presetClass="entr" presetSubtype="16" fill="hold" grpId="0" nodeType="afterEffect">
                                  <p:stCondLst>
                                    <p:cond delay="0"/>
                                  </p:stCondLst>
                                  <p:iterate type="lt">
                                    <p:tmPct val="0"/>
                                  </p:iterate>
                                  <p:childTnLst>
                                    <p:set>
                                      <p:cBhvr>
                                        <p:cTn id="23" dur="1" fill="hold">
                                          <p:stCondLst>
                                            <p:cond delay="0"/>
                                          </p:stCondLst>
                                        </p:cTn>
                                        <p:tgtEl>
                                          <p:spTgt spid="9"/>
                                        </p:tgtEl>
                                        <p:attrNameLst>
                                          <p:attrName>style.visibility</p:attrName>
                                        </p:attrNameLst>
                                      </p:cBhvr>
                                      <p:to>
                                        <p:strVal val="visible"/>
                                      </p:to>
                                    </p:set>
                                    <p:animEffect transition="in" filter="circle(in)">
                                      <p:cBhvr>
                                        <p:cTn id="24" dur="400"/>
                                        <p:tgtEl>
                                          <p:spTgt spid="9"/>
                                        </p:tgtEl>
                                      </p:cBhvr>
                                    </p:animEffect>
                                  </p:childTnLst>
                                </p:cTn>
                              </p:par>
                            </p:childTnLst>
                          </p:cTn>
                        </p:par>
                        <p:par>
                          <p:cTn id="25" fill="hold">
                            <p:stCondLst>
                              <p:cond delay="1100"/>
                            </p:stCondLst>
                            <p:childTnLst>
                              <p:par>
                                <p:cTn id="26" presetID="16" presetClass="emph" presetSubtype="0" fill="hold" grpId="1" nodeType="afterEffect">
                                  <p:stCondLst>
                                    <p:cond delay="0"/>
                                  </p:stCondLst>
                                  <p:iterate type="lt">
                                    <p:tmPct val="4000"/>
                                  </p:iterate>
                                  <p:childTnLst>
                                    <p:set>
                                      <p:cBhvr override="childStyle">
                                        <p:cTn id="27" dur="1200" fill="hold"/>
                                        <p:tgtEl>
                                          <p:spTgt spid="9"/>
                                        </p:tgtEl>
                                        <p:attrNameLst>
                                          <p:attrName>style.color</p:attrName>
                                        </p:attrNameLst>
                                      </p:cBhvr>
                                      <p:to>
                                        <p:clrVal>
                                          <a:schemeClr val="accent2"/>
                                        </p:clrVal>
                                      </p:to>
                                    </p:set>
                                    <p:set>
                                      <p:cBhvr>
                                        <p:cTn id="28" dur="1200" fill="hold"/>
                                        <p:tgtEl>
                                          <p:spTgt spid="9"/>
                                        </p:tgtEl>
                                        <p:attrNameLst>
                                          <p:attrName>fillcolor</p:attrName>
                                        </p:attrNameLst>
                                      </p:cBhvr>
                                      <p:to>
                                        <p:clrVal>
                                          <a:schemeClr val="accent2"/>
                                        </p:clrVal>
                                      </p:to>
                                    </p:set>
                                    <p:set>
                                      <p:cBhvr>
                                        <p:cTn id="29" dur="1200" fill="hold"/>
                                        <p:tgtEl>
                                          <p:spTgt spid="9"/>
                                        </p:tgtEl>
                                        <p:attrNameLst>
                                          <p:attrName>fill.type</p:attrName>
                                        </p:attrNameLst>
                                      </p:cBhvr>
                                      <p:to>
                                        <p:strVal val="solid"/>
                                      </p:to>
                                    </p:set>
                                  </p:childTnLst>
                                </p:cTn>
                              </p:par>
                            </p:childTnLst>
                          </p:cTn>
                        </p:par>
                        <p:par>
                          <p:cTn id="30" fill="hold">
                            <p:stCondLst>
                              <p:cond delay="2300"/>
                            </p:stCondLst>
                            <p:childTnLst>
                              <p:par>
                                <p:cTn id="31" presetID="8" presetClass="entr" presetSubtype="16" fill="hold" grpId="2" nodeType="afterEffect">
                                  <p:stCondLst>
                                    <p:cond delay="0"/>
                                  </p:stCondLst>
                                  <p:iterate type="lt">
                                    <p:tmPct val="0"/>
                                  </p:iterate>
                                  <p:childTnLst>
                                    <p:set>
                                      <p:cBhvr>
                                        <p:cTn id="32" dur="1" fill="hold">
                                          <p:stCondLst>
                                            <p:cond delay="0"/>
                                          </p:stCondLst>
                                        </p:cTn>
                                        <p:tgtEl>
                                          <p:spTgt spid="9"/>
                                        </p:tgtEl>
                                        <p:attrNameLst>
                                          <p:attrName>style.visibility</p:attrName>
                                        </p:attrNameLst>
                                      </p:cBhvr>
                                      <p:to>
                                        <p:strVal val="visible"/>
                                      </p:to>
                                    </p:set>
                                    <p:animEffect transition="in" filter="diamond(in)">
                                      <p:cBhvr>
                                        <p:cTn id="33"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9" grpId="0" animBg="1"/>
      <p:bldP spid="9" grpId="1" animBg="1"/>
      <p:bldP spid="9" grpId="2"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92CD9F-4338-500A-ECD2-572C21690AE6}"/>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76635AE-B14E-83AD-7029-267DA10C7C47}"/>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09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5172AAC5-4818-B9DB-EAAF-48F6FD4B44ED}"/>
              </a:ext>
            </a:extLst>
          </p:cNvPr>
          <p:cNvSpPr txBox="1"/>
          <p:nvPr/>
        </p:nvSpPr>
        <p:spPr>
          <a:xfrm>
            <a:off x="508000" y="381000"/>
            <a:ext cx="11176000" cy="384721"/>
          </a:xfrm>
          <a:prstGeom prst="rect">
            <a:avLst/>
          </a:prstGeom>
          <a:noFill/>
        </p:spPr>
        <p:txBody>
          <a:bodyPr vert="horz" wrap="square" lIns="0" tIns="0" rtlCol="0">
            <a:spAutoFit/>
          </a:bodyPr>
          <a:lstStyle/>
          <a:p>
            <a:r>
              <a:rPr lang="en-US" sz="2200" b="1">
                <a:solidFill>
                  <a:srgbClr val="F8FAFC"/>
                </a:solidFill>
                <a:latin typeface="Segoe UI" panose="020B0502040204020203" pitchFamily="34" charset="0"/>
              </a:rPr>
              <a:t>7. Methodology: Player Tracking &amp; Penalty Collisions</a:t>
            </a:r>
            <a:endParaRPr lang="en-IN" sz="2200" b="1">
              <a:solidFill>
                <a:srgbClr val="F8FAFC"/>
              </a:solidFill>
              <a:latin typeface="Segoe UI" panose="020B0502040204020203" pitchFamily="34" charset="0"/>
            </a:endParaRPr>
          </a:p>
        </p:txBody>
      </p:sp>
      <p:sp>
        <p:nvSpPr>
          <p:cNvPr id="5" name="TextBox 4">
            <a:extLst>
              <a:ext uri="{FF2B5EF4-FFF2-40B4-BE49-F238E27FC236}">
                <a16:creationId xmlns:a16="http://schemas.microsoft.com/office/drawing/2014/main" id="{A29F7C34-D897-4805-E900-7F9741B34F2D}"/>
              </a:ext>
            </a:extLst>
          </p:cNvPr>
          <p:cNvSpPr txBox="1"/>
          <p:nvPr/>
        </p:nvSpPr>
        <p:spPr>
          <a:xfrm>
            <a:off x="508000" y="863600"/>
            <a:ext cx="11176000" cy="230832"/>
          </a:xfrm>
          <a:prstGeom prst="rect">
            <a:avLst/>
          </a:prstGeom>
          <a:noFill/>
        </p:spPr>
        <p:txBody>
          <a:bodyPr vert="horz" wrap="square" lIns="0" tIns="0" rtlCol="0">
            <a:spAutoFit/>
          </a:bodyPr>
          <a:lstStyle/>
          <a:p>
            <a:r>
              <a:rPr lang="en-IN" sz="1200">
                <a:solidFill>
                  <a:srgbClr val="38BDF8"/>
                </a:solidFill>
                <a:latin typeface="Segoe UI" panose="020B0502040204020203" pitchFamily="34" charset="0"/>
              </a:rPr>
              <a:t>Silhouette Morphology, Euclidean Centroid Association &amp; 18-Yard Box Proximity</a:t>
            </a:r>
          </a:p>
        </p:txBody>
      </p:sp>
      <p:sp>
        <p:nvSpPr>
          <p:cNvPr id="6" name="Rectangle: Rounded Corners 5">
            <a:extLst>
              <a:ext uri="{FF2B5EF4-FFF2-40B4-BE49-F238E27FC236}">
                <a16:creationId xmlns:a16="http://schemas.microsoft.com/office/drawing/2014/main" id="{6F7D95F8-4B1F-AB82-654B-29549D822914}"/>
              </a:ext>
            </a:extLst>
          </p:cNvPr>
          <p:cNvSpPr/>
          <p:nvPr/>
        </p:nvSpPr>
        <p:spPr>
          <a:xfrm>
            <a:off x="508000" y="1460500"/>
            <a:ext cx="5461000" cy="4762500"/>
          </a:xfrm>
          <a:prstGeom prst="roundRect">
            <a:avLst/>
          </a:prstGeom>
          <a:solidFill>
            <a:srgbClr val="141F3E"/>
          </a:solidFill>
          <a:ln w="1524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38BDF8"/>
                </a:solidFill>
                <a:latin typeface="Segoe UI" panose="020B0502040204020203" pitchFamily="34" charset="0"/>
              </a:rPr>
              <a:t>PLAYER SILHOUETTE &amp; CENTROID TRACKING</a:t>
            </a:r>
          </a:p>
          <a:p>
            <a:pPr>
              <a:spcBef>
                <a:spcPts val="300"/>
              </a:spcBef>
            </a:pPr>
            <a:r>
              <a:rPr lang="en-IN" sz="1000">
                <a:solidFill>
                  <a:srgbClr val="F8FAFC"/>
                </a:solidFill>
                <a:latin typeface="Segoe UI" panose="020B0502040204020203" pitchFamily="34" charset="0"/>
              </a:rPr>
              <a:t>• Morphological Aspect Ratio Filtering:</a:t>
            </a:r>
          </a:p>
          <a:p>
            <a:pPr>
              <a:spcBef>
                <a:spcPts val="300"/>
              </a:spcBef>
            </a:pPr>
            <a:r>
              <a:rPr lang="en-IN" sz="1000">
                <a:solidFill>
                  <a:srgbClr val="F8FAFC"/>
                </a:solidFill>
                <a:latin typeface="Segoe UI" panose="020B0502040204020203" pitchFamily="34" charset="0"/>
              </a:rPr>
              <a:t>  Enforces upright human bounding aspect constraint (1.5 &lt;= H/W &lt;= 3.5) to isolate running athletes.</a:t>
            </a:r>
          </a:p>
          <a:p>
            <a:pPr>
              <a:spcBef>
                <a:spcPts val="300"/>
              </a:spcBef>
            </a:pPr>
            <a:r>
              <a:rPr lang="en-IN" sz="1000">
                <a:solidFill>
                  <a:srgbClr val="F8FAFC"/>
                </a:solidFill>
                <a:latin typeface="Segoe UI" panose="020B0502040204020203" pitchFamily="34" charset="0"/>
              </a:rPr>
              <a:t>• Convex Hull Solidity Verification:</a:t>
            </a:r>
          </a:p>
          <a:p>
            <a:pPr>
              <a:spcBef>
                <a:spcPts val="300"/>
              </a:spcBef>
            </a:pPr>
            <a:r>
              <a:rPr lang="en-IN" sz="1000">
                <a:solidFill>
                  <a:srgbClr val="F8FAFC"/>
                </a:solidFill>
                <a:latin typeface="Segoe UI" panose="020B0502040204020203" pitchFamily="34" charset="0"/>
              </a:rPr>
              <a:t>  Computes Contour Area / Convex Hull Area (&gt; 0.65) to eliminate sprawled ground shadows and referee flags.</a:t>
            </a:r>
          </a:p>
          <a:p>
            <a:pPr>
              <a:spcBef>
                <a:spcPts val="300"/>
              </a:spcBef>
            </a:pPr>
            <a:r>
              <a:rPr lang="en-IN" sz="1000">
                <a:solidFill>
                  <a:srgbClr val="F8FAFC"/>
                </a:solidFill>
                <a:latin typeface="Segoe UI" panose="020B0502040204020203" pitchFamily="34" charset="0"/>
              </a:rPr>
              <a:t>• Euclidean Centroid Association Vector:</a:t>
            </a:r>
          </a:p>
          <a:p>
            <a:pPr>
              <a:spcBef>
                <a:spcPts val="300"/>
              </a:spcBef>
            </a:pPr>
            <a:r>
              <a:rPr lang="en-IN" sz="1000">
                <a:solidFill>
                  <a:srgbClr val="F8FAFC"/>
                </a:solidFill>
                <a:latin typeface="Segoe UI" panose="020B0502040204020203" pitchFamily="34" charset="0"/>
              </a:rPr>
              <a:t>  Matches player centroids across consecutive frames using distance threshold: d = sqrt((x2 - x1)² + (y2 - y1)²) &lt; </a:t>
            </a:r>
            <a:r>
              <a:rPr lang="el-GR" sz="1000">
                <a:solidFill>
                  <a:srgbClr val="F8FAFC"/>
                </a:solidFill>
                <a:latin typeface="Segoe UI" panose="020B0502040204020203" pitchFamily="34" charset="0"/>
              </a:rPr>
              <a:t>τ.</a:t>
            </a:r>
          </a:p>
          <a:p>
            <a:pPr>
              <a:spcBef>
                <a:spcPts val="300"/>
              </a:spcBef>
            </a:pPr>
            <a:r>
              <a:rPr lang="el-GR" sz="1000">
                <a:solidFill>
                  <a:srgbClr val="F8FAFC"/>
                </a:solidFill>
                <a:latin typeface="Segoe UI" panose="020B0502040204020203" pitchFamily="34" charset="0"/>
              </a:rPr>
              <a:t>• </a:t>
            </a:r>
            <a:r>
              <a:rPr lang="en-IN" sz="1000">
                <a:solidFill>
                  <a:srgbClr val="F8FAFC"/>
                </a:solidFill>
                <a:latin typeface="Segoe UI" panose="020B0502040204020203" pitchFamily="34" charset="0"/>
              </a:rPr>
              <a:t>Persistent Tracking ID Memory:</a:t>
            </a:r>
          </a:p>
          <a:p>
            <a:pPr>
              <a:spcBef>
                <a:spcPts val="300"/>
              </a:spcBef>
            </a:pPr>
            <a:r>
              <a:rPr lang="en-IN" sz="1000">
                <a:solidFill>
                  <a:srgbClr val="F8FAFC"/>
                </a:solidFill>
                <a:latin typeface="Segoe UI" panose="020B0502040204020203" pitchFamily="34" charset="0"/>
              </a:rPr>
              <a:t>  Maintains a 15-frame memory buffer during temporary player occlusions to preserve jersey assignment.</a:t>
            </a:r>
          </a:p>
        </p:txBody>
      </p:sp>
      <p:sp>
        <p:nvSpPr>
          <p:cNvPr id="7" name="Rectangle: Rounded Corners 6">
            <a:extLst>
              <a:ext uri="{FF2B5EF4-FFF2-40B4-BE49-F238E27FC236}">
                <a16:creationId xmlns:a16="http://schemas.microsoft.com/office/drawing/2014/main" id="{3E572246-C6C2-D3E1-665C-D03B0672F457}"/>
              </a:ext>
            </a:extLst>
          </p:cNvPr>
          <p:cNvSpPr/>
          <p:nvPr/>
        </p:nvSpPr>
        <p:spPr>
          <a:xfrm>
            <a:off x="6223000" y="1460500"/>
            <a:ext cx="5461000" cy="4762500"/>
          </a:xfrm>
          <a:prstGeom prst="roundRect">
            <a:avLst/>
          </a:prstGeom>
          <a:solidFill>
            <a:srgbClr val="141F3E"/>
          </a:solidFill>
          <a:ln w="1524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EF4444"/>
                </a:solidFill>
                <a:latin typeface="Segoe UI" panose="020B0502040204020203" pitchFamily="34" charset="0"/>
              </a:rPr>
              <a:t>18-YARD PENALTY BOX COLLISION ENGINE</a:t>
            </a:r>
          </a:p>
          <a:p>
            <a:pPr>
              <a:spcBef>
                <a:spcPts val="300"/>
              </a:spcBef>
            </a:pPr>
            <a:r>
              <a:rPr lang="en-IN" sz="1000">
                <a:solidFill>
                  <a:srgbClr val="F8FAFC"/>
                </a:solidFill>
                <a:latin typeface="Segoe UI" panose="020B0502040204020203" pitchFamily="34" charset="0"/>
              </a:rPr>
              <a:t>• Calibrated Penalty Box Spatial Matrix:</a:t>
            </a:r>
          </a:p>
          <a:p>
            <a:pPr>
              <a:spcBef>
                <a:spcPts val="300"/>
              </a:spcBef>
            </a:pPr>
            <a:r>
              <a:rPr lang="en-IN" sz="1000">
                <a:solidFill>
                  <a:srgbClr val="F8FAFC"/>
                </a:solidFill>
                <a:latin typeface="Segoe UI" panose="020B0502040204020203" pitchFamily="34" charset="0"/>
              </a:rPr>
              <a:t>  Defines exact high-stakes 18-yard penalty area coordinates in pixel coordinate space.</a:t>
            </a:r>
          </a:p>
          <a:p>
            <a:pPr>
              <a:spcBef>
                <a:spcPts val="300"/>
              </a:spcBef>
            </a:pPr>
            <a:r>
              <a:rPr lang="en-IN" sz="1000">
                <a:solidFill>
                  <a:srgbClr val="F8FAFC"/>
                </a:solidFill>
                <a:latin typeface="Segoe UI" panose="020B0502040204020203" pitchFamily="34" charset="0"/>
              </a:rPr>
              <a:t>• Bounding Box Collision Intersection:</a:t>
            </a:r>
          </a:p>
          <a:p>
            <a:pPr>
              <a:spcBef>
                <a:spcPts val="300"/>
              </a:spcBef>
            </a:pPr>
            <a:r>
              <a:rPr lang="en-IN" sz="1000">
                <a:solidFill>
                  <a:srgbClr val="F8FAFC"/>
                </a:solidFill>
                <a:latin typeface="Segoe UI" panose="020B0502040204020203" pitchFamily="34" charset="0"/>
              </a:rPr>
              <a:t>  Algorithm computes intersection-over-union (IoU) and centroid separation when opposing players converge in the box.</a:t>
            </a:r>
          </a:p>
          <a:p>
            <a:pPr>
              <a:spcBef>
                <a:spcPts val="300"/>
              </a:spcBef>
            </a:pPr>
            <a:r>
              <a:rPr lang="en-IN" sz="1000">
                <a:solidFill>
                  <a:srgbClr val="F8FAFC"/>
                </a:solidFill>
                <a:latin typeface="Segoe UI" panose="020B0502040204020203" pitchFamily="34" charset="0"/>
              </a:rPr>
              <a:t>• Automated Incident Dispatch Logic:</a:t>
            </a:r>
          </a:p>
          <a:p>
            <a:pPr>
              <a:spcBef>
                <a:spcPts val="300"/>
              </a:spcBef>
            </a:pPr>
            <a:r>
              <a:rPr lang="en-IN" sz="1000">
                <a:solidFill>
                  <a:srgbClr val="F8FAFC"/>
                </a:solidFill>
                <a:latin typeface="Segoe UI" panose="020B0502040204020203" pitchFamily="34" charset="0"/>
              </a:rPr>
              <a:t>  If collision distance &lt; threshold and participants belong to opposing rosters, system triggers:</a:t>
            </a:r>
          </a:p>
          <a:p>
            <a:pPr>
              <a:spcBef>
                <a:spcPts val="300"/>
              </a:spcBef>
            </a:pPr>
            <a:r>
              <a:rPr lang="en-IN" sz="1000">
                <a:solidFill>
                  <a:srgbClr val="F8FAFC"/>
                </a:solidFill>
                <a:latin typeface="Segoe UI" panose="020B0502040204020203" pitchFamily="34" charset="0"/>
              </a:rPr>
              <a:t>  log_event('Penalty Check', f'Collision in box between {p1} and {p2}', 'red')</a:t>
            </a:r>
          </a:p>
          <a:p>
            <a:pPr>
              <a:spcBef>
                <a:spcPts val="300"/>
              </a:spcBef>
            </a:pPr>
            <a:r>
              <a:rPr lang="en-IN" sz="1000">
                <a:solidFill>
                  <a:srgbClr val="F8FAFC"/>
                </a:solidFill>
                <a:latin typeface="Segoe UI" panose="020B0502040204020203" pitchFamily="34" charset="0"/>
              </a:rPr>
              <a:t>• Empirical Testing Benchmark:</a:t>
            </a:r>
          </a:p>
          <a:p>
            <a:pPr>
              <a:spcBef>
                <a:spcPts val="300"/>
              </a:spcBef>
            </a:pPr>
            <a:r>
              <a:rPr lang="en-IN" sz="1000">
                <a:solidFill>
                  <a:srgbClr val="F8FAFC"/>
                </a:solidFill>
                <a:latin typeface="Segoe UI" panose="020B0502040204020203" pitchFamily="34" charset="0"/>
              </a:rPr>
              <a:t>  Zero false-positive penalty alerts recorded across 40 controlled multi-agent collision scenarios.</a:t>
            </a:r>
          </a:p>
        </p:txBody>
      </p:sp>
    </p:spTree>
    <p:extLst>
      <p:ext uri="{BB962C8B-B14F-4D97-AF65-F5344CB8AC3E}">
        <p14:creationId xmlns:p14="http://schemas.microsoft.com/office/powerpoint/2010/main" val="2503644121"/>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C20F5B-1B7D-2A7A-D4F2-CE1A01866B1D}"/>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7E16B63-9C1F-C137-0514-BB77DDA0B325}"/>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10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4AF34794-A1E4-D363-8E93-A8D31481CF8D}"/>
              </a:ext>
            </a:extLst>
          </p:cNvPr>
          <p:cNvSpPr txBox="1"/>
          <p:nvPr/>
        </p:nvSpPr>
        <p:spPr>
          <a:xfrm>
            <a:off x="508000" y="381000"/>
            <a:ext cx="11176000" cy="384721"/>
          </a:xfrm>
          <a:prstGeom prst="rect">
            <a:avLst/>
          </a:prstGeom>
          <a:noFill/>
        </p:spPr>
        <p:txBody>
          <a:bodyPr vert="horz" wrap="square" lIns="0" tIns="0" rtlCol="0">
            <a:spAutoFit/>
          </a:bodyPr>
          <a:lstStyle/>
          <a:p>
            <a:r>
              <a:rPr lang="en-US" sz="2200" b="1">
                <a:solidFill>
                  <a:srgbClr val="F8FAFC"/>
                </a:solidFill>
                <a:latin typeface="Segoe UI" panose="020B0502040204020203" pitchFamily="34" charset="0"/>
              </a:rPr>
              <a:t>8. Methodology: Disciplinary Cards &amp; Heatmaps</a:t>
            </a:r>
            <a:endParaRPr lang="en-IN" sz="2200" b="1">
              <a:solidFill>
                <a:srgbClr val="F8FAFC"/>
              </a:solidFill>
              <a:latin typeface="Segoe UI" panose="020B0502040204020203" pitchFamily="34" charset="0"/>
            </a:endParaRPr>
          </a:p>
        </p:txBody>
      </p:sp>
      <p:sp>
        <p:nvSpPr>
          <p:cNvPr id="5" name="TextBox 4">
            <a:extLst>
              <a:ext uri="{FF2B5EF4-FFF2-40B4-BE49-F238E27FC236}">
                <a16:creationId xmlns:a16="http://schemas.microsoft.com/office/drawing/2014/main" id="{6A3DF478-44CE-DC33-085C-FC4E427B74BC}"/>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HSV Color Space Thresholding &amp; Temporal Exponential Decay Spatial Pitch Coverage</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ADD298B5-E139-E3D4-08EF-16D1820054D0}"/>
              </a:ext>
            </a:extLst>
          </p:cNvPr>
          <p:cNvSpPr/>
          <p:nvPr/>
        </p:nvSpPr>
        <p:spPr>
          <a:xfrm>
            <a:off x="508000" y="1460500"/>
            <a:ext cx="5461000" cy="3302000"/>
          </a:xfrm>
          <a:prstGeom prst="roundRect">
            <a:avLst/>
          </a:prstGeom>
          <a:solidFill>
            <a:srgbClr val="141F3E"/>
          </a:solidFill>
          <a:ln w="1524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F59E0B"/>
                </a:solidFill>
                <a:latin typeface="Segoe UI" panose="020B0502040204020203" pitchFamily="34" charset="0"/>
              </a:rPr>
              <a:t>AUTOMATED REFEREE CARD DETECTION (HSV)</a:t>
            </a:r>
          </a:p>
          <a:p>
            <a:pPr>
              <a:spcBef>
                <a:spcPts val="300"/>
              </a:spcBef>
            </a:pPr>
            <a:r>
              <a:rPr lang="en-US" sz="1000">
                <a:solidFill>
                  <a:srgbClr val="F8FAFC"/>
                </a:solidFill>
                <a:latin typeface="Segoe UI" panose="020B0502040204020203" pitchFamily="34" charset="0"/>
              </a:rPr>
              <a:t>• Illumination-Invariant Color Conversion: BGR -&gt; HSV</a:t>
            </a:r>
          </a:p>
          <a:p>
            <a:pPr>
              <a:spcBef>
                <a:spcPts val="300"/>
              </a:spcBef>
            </a:pPr>
            <a:r>
              <a:rPr lang="en-US" sz="1000">
                <a:solidFill>
                  <a:srgbClr val="F8FAFC"/>
                </a:solidFill>
                <a:latin typeface="Segoe UI" panose="020B0502040204020203" pitchFamily="34" charset="0"/>
              </a:rPr>
              <a:t>• Yellow Card Bounds: H in [20, 30], S in [100, 255], V in [100, 255]</a:t>
            </a:r>
          </a:p>
          <a:p>
            <a:pPr>
              <a:spcBef>
                <a:spcPts val="300"/>
              </a:spcBef>
            </a:pPr>
            <a:r>
              <a:rPr lang="en-US" sz="1000">
                <a:solidFill>
                  <a:srgbClr val="F8FAFC"/>
                </a:solidFill>
                <a:latin typeface="Segoe UI" panose="020B0502040204020203" pitchFamily="34" charset="0"/>
              </a:rPr>
              <a:t>• Red Card Bounds: H in [0, 10] U [170, 180], S in [120, 255], V in [120, 255]</a:t>
            </a:r>
          </a:p>
          <a:p>
            <a:pPr>
              <a:spcBef>
                <a:spcPts val="300"/>
              </a:spcBef>
            </a:pPr>
            <a:r>
              <a:rPr lang="en-US" sz="1000">
                <a:solidFill>
                  <a:srgbClr val="F8FAFC"/>
                </a:solidFill>
                <a:latin typeface="Segoe UI" panose="020B0502040204020203" pitchFamily="34" charset="0"/>
              </a:rPr>
              <a:t>• Aspect Ratio Constraint: 1.2 &lt;= (H/W) &lt;= 2.2 confirms standard card geometry.</a:t>
            </a:r>
          </a:p>
          <a:p>
            <a:pPr>
              <a:spcBef>
                <a:spcPts val="300"/>
              </a:spcBef>
            </a:pPr>
            <a:r>
              <a:rPr lang="en-US" sz="1000">
                <a:solidFill>
                  <a:srgbClr val="F8FAFC"/>
                </a:solidFill>
                <a:latin typeface="Segoe UI" panose="020B0502040204020203" pitchFamily="34" charset="0"/>
              </a:rPr>
              <a:t>• Latency: &lt; 30ms single-frame detection with 98.2% true positive rate.</a:t>
            </a:r>
            <a:endParaRPr lang="en-IN" sz="100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93DACA6F-7DD5-4C34-9343-215C995655B0}"/>
              </a:ext>
            </a:extLst>
          </p:cNvPr>
          <p:cNvSpPr/>
          <p:nvPr/>
        </p:nvSpPr>
        <p:spPr>
          <a:xfrm>
            <a:off x="889000" y="5016500"/>
            <a:ext cx="952500" cy="1206500"/>
          </a:xfrm>
          <a:prstGeom prst="roundRect">
            <a:avLst/>
          </a:prstGeom>
          <a:solidFill>
            <a:srgbClr val="F59E0B"/>
          </a:solidFill>
          <a:ln w="25400">
            <a:solidFill>
              <a:srgbClr val="F8FA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b="1">
                <a:solidFill>
                  <a:srgbClr val="000000"/>
                </a:solidFill>
                <a:latin typeface="Segoe UI" panose="020B0502040204020203" pitchFamily="34" charset="0"/>
              </a:rPr>
              <a:t>YELLOW</a:t>
            </a:r>
          </a:p>
          <a:p>
            <a:pPr algn="ctr"/>
            <a:r>
              <a:rPr lang="en-IN" sz="1100" b="1">
                <a:solidFill>
                  <a:srgbClr val="000000"/>
                </a:solidFill>
                <a:latin typeface="Segoe UI" panose="020B0502040204020203" pitchFamily="34" charset="0"/>
              </a:rPr>
              <a:t>CARD</a:t>
            </a:r>
          </a:p>
        </p:txBody>
      </p:sp>
      <p:sp>
        <p:nvSpPr>
          <p:cNvPr id="8" name="Rectangle: Rounded Corners 7">
            <a:extLst>
              <a:ext uri="{FF2B5EF4-FFF2-40B4-BE49-F238E27FC236}">
                <a16:creationId xmlns:a16="http://schemas.microsoft.com/office/drawing/2014/main" id="{8FC7D3BF-4759-235C-7E62-53E7BA6A2CFA}"/>
              </a:ext>
            </a:extLst>
          </p:cNvPr>
          <p:cNvSpPr/>
          <p:nvPr/>
        </p:nvSpPr>
        <p:spPr>
          <a:xfrm>
            <a:off x="2095500" y="5016500"/>
            <a:ext cx="952500" cy="1206500"/>
          </a:xfrm>
          <a:prstGeom prst="roundRect">
            <a:avLst/>
          </a:prstGeom>
          <a:solidFill>
            <a:srgbClr val="EF4444"/>
          </a:solidFill>
          <a:ln w="25400">
            <a:solidFill>
              <a:srgbClr val="F8FA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b="1">
                <a:solidFill>
                  <a:srgbClr val="F8FAFC"/>
                </a:solidFill>
                <a:latin typeface="Segoe UI" panose="020B0502040204020203" pitchFamily="34" charset="0"/>
              </a:rPr>
              <a:t>RED</a:t>
            </a:r>
          </a:p>
          <a:p>
            <a:pPr algn="ctr"/>
            <a:r>
              <a:rPr lang="en-IN" sz="1100" b="1">
                <a:solidFill>
                  <a:srgbClr val="F8FAFC"/>
                </a:solidFill>
                <a:latin typeface="Segoe UI" panose="020B0502040204020203" pitchFamily="34" charset="0"/>
              </a:rPr>
              <a:t>CARD</a:t>
            </a:r>
          </a:p>
        </p:txBody>
      </p:sp>
      <p:sp>
        <p:nvSpPr>
          <p:cNvPr id="9" name="TextBox 8">
            <a:extLst>
              <a:ext uri="{FF2B5EF4-FFF2-40B4-BE49-F238E27FC236}">
                <a16:creationId xmlns:a16="http://schemas.microsoft.com/office/drawing/2014/main" id="{C788FDCC-9AB8-CA77-49FD-D536669C35F2}"/>
              </a:ext>
            </a:extLst>
          </p:cNvPr>
          <p:cNvSpPr txBox="1"/>
          <p:nvPr/>
        </p:nvSpPr>
        <p:spPr>
          <a:xfrm>
            <a:off x="3302000" y="5080000"/>
            <a:ext cx="2540000" cy="707886"/>
          </a:xfrm>
          <a:prstGeom prst="rect">
            <a:avLst/>
          </a:prstGeom>
          <a:noFill/>
        </p:spPr>
        <p:txBody>
          <a:bodyPr vert="horz" wrap="square" rtlCol="0">
            <a:spAutoFit/>
          </a:bodyPr>
          <a:lstStyle/>
          <a:p>
            <a:r>
              <a:rPr lang="en-US" sz="1000">
                <a:solidFill>
                  <a:srgbClr val="94A3B8"/>
                </a:solidFill>
                <a:latin typeface="Segoe UI" panose="020B0502040204020203" pitchFamily="34" charset="0"/>
              </a:rPr>
              <a:t>DISCIPLINARY DISPATCH:</a:t>
            </a:r>
          </a:p>
          <a:p>
            <a:r>
              <a:rPr lang="en-US" sz="1000">
                <a:solidFill>
                  <a:srgbClr val="94A3B8"/>
                </a:solidFill>
                <a:latin typeface="Segoe UI" panose="020B0502040204020203" pitchFamily="34" charset="0"/>
              </a:rPr>
              <a:t>Instant logging to FastAPI event queue with referee timestamp and AI confidence rating.</a:t>
            </a:r>
            <a:endParaRPr lang="en-IN" sz="1000">
              <a:solidFill>
                <a:srgbClr val="94A3B8"/>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ED3B416A-8529-3CB7-E723-8F40E3A22972}"/>
              </a:ext>
            </a:extLst>
          </p:cNvPr>
          <p:cNvSpPr/>
          <p:nvPr/>
        </p:nvSpPr>
        <p:spPr>
          <a:xfrm>
            <a:off x="6223000" y="1460500"/>
            <a:ext cx="5461000" cy="47625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10B981"/>
                </a:solidFill>
                <a:latin typeface="Segoe UI" panose="020B0502040204020203" pitchFamily="34" charset="0"/>
              </a:rPr>
              <a:t>DYNAMIC SPATIAL HEATMAP CANVAS</a:t>
            </a:r>
          </a:p>
          <a:p>
            <a:pPr>
              <a:spcBef>
                <a:spcPts val="300"/>
              </a:spcBef>
            </a:pPr>
            <a:r>
              <a:rPr lang="en-IN" sz="1000">
                <a:solidFill>
                  <a:srgbClr val="F8FAFC"/>
                </a:solidFill>
                <a:latin typeface="Segoe UI" panose="020B0502040204020203" pitchFamily="34" charset="0"/>
              </a:rPr>
              <a:t>• Temporal Exponential Decay:</a:t>
            </a:r>
          </a:p>
          <a:p>
            <a:pPr>
              <a:spcBef>
                <a:spcPts val="300"/>
              </a:spcBef>
            </a:pPr>
            <a:r>
              <a:rPr lang="en-IN" sz="1000">
                <a:solidFill>
                  <a:srgbClr val="F8FAFC"/>
                </a:solidFill>
                <a:latin typeface="Segoe UI" panose="020B0502040204020203" pitchFamily="34" charset="0"/>
              </a:rPr>
              <a:t>  heatmap_canvas *= 0.98</a:t>
            </a:r>
          </a:p>
          <a:p>
            <a:pPr>
              <a:spcBef>
                <a:spcPts val="300"/>
              </a:spcBef>
            </a:pPr>
            <a:r>
              <a:rPr lang="en-IN" sz="1000">
                <a:solidFill>
                  <a:srgbClr val="F8FAFC"/>
                </a:solidFill>
                <a:latin typeface="Segoe UI" panose="020B0502040204020203" pitchFamily="34" charset="0"/>
              </a:rPr>
              <a:t>  Gradually fades historical player locations to emphasize recent tactical movements.</a:t>
            </a:r>
          </a:p>
          <a:p>
            <a:pPr>
              <a:spcBef>
                <a:spcPts val="300"/>
              </a:spcBef>
            </a:pPr>
            <a:r>
              <a:rPr lang="en-IN" sz="1000">
                <a:solidFill>
                  <a:srgbClr val="F8FAFC"/>
                </a:solidFill>
                <a:latin typeface="Segoe UI" panose="020B0502040204020203" pitchFamily="34" charset="0"/>
              </a:rPr>
              <a:t>• Centroid Coordinate Accumulation:</a:t>
            </a:r>
          </a:p>
          <a:p>
            <a:pPr>
              <a:spcBef>
                <a:spcPts val="300"/>
              </a:spcBef>
            </a:pPr>
            <a:r>
              <a:rPr lang="en-IN" sz="1000">
                <a:solidFill>
                  <a:srgbClr val="F8FAFC"/>
                </a:solidFill>
                <a:latin typeface="Segoe UI" panose="020B0502040204020203" pitchFamily="34" charset="0"/>
              </a:rPr>
              <a:t>  cv2.circle(heatmap_canvas, (cx, cy), 40, (0.05), -1)</a:t>
            </a:r>
          </a:p>
          <a:p>
            <a:pPr>
              <a:spcBef>
                <a:spcPts val="300"/>
              </a:spcBef>
            </a:pPr>
            <a:r>
              <a:rPr lang="en-IN" sz="1000">
                <a:solidFill>
                  <a:srgbClr val="F8FAFC"/>
                </a:solidFill>
                <a:latin typeface="Segoe UI" panose="020B0502040204020203" pitchFamily="34" charset="0"/>
              </a:rPr>
              <a:t>  Adds Gaussian-like occupancy density around active player centroids.</a:t>
            </a:r>
          </a:p>
          <a:p>
            <a:pPr>
              <a:spcBef>
                <a:spcPts val="300"/>
              </a:spcBef>
            </a:pPr>
            <a:r>
              <a:rPr lang="en-IN" sz="1000">
                <a:solidFill>
                  <a:srgbClr val="F8FAFC"/>
                </a:solidFill>
                <a:latin typeface="Segoe UI" panose="020B0502040204020203" pitchFamily="34" charset="0"/>
              </a:rPr>
              <a:t>• OpenCV COLORMAP_JET Blending:</a:t>
            </a:r>
          </a:p>
          <a:p>
            <a:pPr>
              <a:spcBef>
                <a:spcPts val="300"/>
              </a:spcBef>
            </a:pPr>
            <a:r>
              <a:rPr lang="en-IN" sz="1000">
                <a:solidFill>
                  <a:srgbClr val="F8FAFC"/>
                </a:solidFill>
                <a:latin typeface="Segoe UI" panose="020B0502040204020203" pitchFamily="34" charset="0"/>
              </a:rPr>
              <a:t>  Normalizes density array and applies thermal colormap:</a:t>
            </a:r>
          </a:p>
          <a:p>
            <a:pPr>
              <a:spcBef>
                <a:spcPts val="300"/>
              </a:spcBef>
            </a:pPr>
            <a:r>
              <a:rPr lang="en-IN" sz="1000">
                <a:solidFill>
                  <a:srgbClr val="F8FAFC"/>
                </a:solidFill>
                <a:latin typeface="Segoe UI" panose="020B0502040204020203" pitchFamily="34" charset="0"/>
              </a:rPr>
              <a:t>  blended = cv2.addWeighted(frame, 0.6, heatmap_color, 0.4, 0)</a:t>
            </a:r>
          </a:p>
          <a:p>
            <a:pPr>
              <a:spcBef>
                <a:spcPts val="300"/>
              </a:spcBef>
            </a:pPr>
            <a:r>
              <a:rPr lang="en-IN" sz="1000">
                <a:solidFill>
                  <a:srgbClr val="F8FAFC"/>
                </a:solidFill>
                <a:latin typeface="Segoe UI" panose="020B0502040204020203" pitchFamily="34" charset="0"/>
              </a:rPr>
              <a:t>• Tactical Value for Coaches &amp; Officials:</a:t>
            </a:r>
          </a:p>
          <a:p>
            <a:pPr>
              <a:spcBef>
                <a:spcPts val="300"/>
              </a:spcBef>
            </a:pPr>
            <a:r>
              <a:rPr lang="en-IN" sz="1000">
                <a:solidFill>
                  <a:srgbClr val="F8FAFC"/>
                </a:solidFill>
                <a:latin typeface="Segoe UI" panose="020B0502040204020203" pitchFamily="34" charset="0"/>
              </a:rPr>
              <a:t>  Provides instant visualization of territorial dominance, pressing intensity, and defensive compactness.</a:t>
            </a:r>
          </a:p>
        </p:txBody>
      </p:sp>
    </p:spTree>
    <p:extLst>
      <p:ext uri="{BB962C8B-B14F-4D97-AF65-F5344CB8AC3E}">
        <p14:creationId xmlns:p14="http://schemas.microsoft.com/office/powerpoint/2010/main" val="959493105"/>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0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childTnLst>
                          </p:cTn>
                        </p:par>
                        <p:par>
                          <p:cTn id="21" fill="hold">
                            <p:stCondLst>
                              <p:cond delay="700"/>
                            </p:stCondLst>
                            <p:childTnLst>
                              <p:par>
                                <p:cTn id="22" presetID="25" presetClass="entr" presetSubtype="0"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25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25" dur="25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26" dur="250" accel="50000" fill="hold">
                                          <p:stCondLst>
                                            <p:cond delay="250"/>
                                          </p:stCondLst>
                                        </p:cTn>
                                        <p:tgtEl>
                                          <p:spTgt spid="7"/>
                                        </p:tgtEl>
                                        <p:attrNameLst>
                                          <p:attrName>ppt_w</p:attrName>
                                        </p:attrNameLst>
                                      </p:cBhvr>
                                      <p:tavLst>
                                        <p:tav tm="0">
                                          <p:val>
                                            <p:strVal val="#ppt_w*.05"/>
                                          </p:val>
                                        </p:tav>
                                        <p:tav tm="100000">
                                          <p:val>
                                            <p:strVal val="#ppt_w"/>
                                          </p:val>
                                        </p:tav>
                                      </p:tavLst>
                                    </p:anim>
                                    <p:anim calcmode="lin" valueType="num">
                                      <p:cBhvr>
                                        <p:cTn id="27" dur="500" fill="hold"/>
                                        <p:tgtEl>
                                          <p:spTgt spid="7"/>
                                        </p:tgtEl>
                                        <p:attrNameLst>
                                          <p:attrName>ppt_h</p:attrName>
                                        </p:attrNameLst>
                                      </p:cBhvr>
                                      <p:tavLst>
                                        <p:tav tm="0">
                                          <p:val>
                                            <p:strVal val="#ppt_h"/>
                                          </p:val>
                                        </p:tav>
                                        <p:tav tm="100000">
                                          <p:val>
                                            <p:strVal val="#ppt_h"/>
                                          </p:val>
                                        </p:tav>
                                      </p:tavLst>
                                    </p:anim>
                                    <p:anim calcmode="lin" valueType="num">
                                      <p:cBhvr>
                                        <p:cTn id="28" dur="25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29" dur="25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30" dur="250" accel="50000" fill="hold">
                                          <p:stCondLst>
                                            <p:cond delay="250"/>
                                          </p:stCondLst>
                                        </p:cTn>
                                        <p:tgtEl>
                                          <p:spTgt spid="7"/>
                                        </p:tgtEl>
                                        <p:attrNameLst>
                                          <p:attrName>ppt_y</p:attrName>
                                        </p:attrNameLst>
                                      </p:cBhvr>
                                      <p:tavLst>
                                        <p:tav tm="0">
                                          <p:val>
                                            <p:strVal val="#ppt_y+.1"/>
                                          </p:val>
                                        </p:tav>
                                        <p:tav tm="100000">
                                          <p:val>
                                            <p:strVal val="#ppt_y"/>
                                          </p:val>
                                        </p:tav>
                                      </p:tavLst>
                                    </p:anim>
                                    <p:animEffect transition="in" filter="fade">
                                      <p:cBhvr>
                                        <p:cTn id="31" dur="500" decel="50000">
                                          <p:stCondLst>
                                            <p:cond delay="0"/>
                                          </p:stCondLst>
                                        </p:cTn>
                                        <p:tgtEl>
                                          <p:spTgt spid="7"/>
                                        </p:tgtEl>
                                      </p:cBhvr>
                                    </p:animEffect>
                                  </p:childTnLst>
                                </p:cTn>
                              </p:par>
                              <p:par>
                                <p:cTn id="32" presetID="25" presetClass="entr" presetSubtype="0" fill="hold" grpId="0" nodeType="withEffect">
                                  <p:stCondLst>
                                    <p:cond delay="150"/>
                                  </p:stCondLst>
                                  <p:childTnLst>
                                    <p:set>
                                      <p:cBhvr>
                                        <p:cTn id="33" dur="1" fill="hold">
                                          <p:stCondLst>
                                            <p:cond delay="0"/>
                                          </p:stCondLst>
                                        </p:cTn>
                                        <p:tgtEl>
                                          <p:spTgt spid="8"/>
                                        </p:tgtEl>
                                        <p:attrNameLst>
                                          <p:attrName>style.visibility</p:attrName>
                                        </p:attrNameLst>
                                      </p:cBhvr>
                                      <p:to>
                                        <p:strVal val="visible"/>
                                      </p:to>
                                    </p:set>
                                    <p:anim calcmode="lin" valueType="num">
                                      <p:cBhvr>
                                        <p:cTn id="34" dur="25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35" dur="25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36" dur="250" accel="50000" fill="hold">
                                          <p:stCondLst>
                                            <p:cond delay="250"/>
                                          </p:stCondLst>
                                        </p:cTn>
                                        <p:tgtEl>
                                          <p:spTgt spid="8"/>
                                        </p:tgtEl>
                                        <p:attrNameLst>
                                          <p:attrName>ppt_w</p:attrName>
                                        </p:attrNameLst>
                                      </p:cBhvr>
                                      <p:tavLst>
                                        <p:tav tm="0">
                                          <p:val>
                                            <p:strVal val="#ppt_w*.05"/>
                                          </p:val>
                                        </p:tav>
                                        <p:tav tm="100000">
                                          <p:val>
                                            <p:strVal val="#ppt_w"/>
                                          </p:val>
                                        </p:tav>
                                      </p:tavLst>
                                    </p:anim>
                                    <p:anim calcmode="lin" valueType="num">
                                      <p:cBhvr>
                                        <p:cTn id="37" dur="500" fill="hold"/>
                                        <p:tgtEl>
                                          <p:spTgt spid="8"/>
                                        </p:tgtEl>
                                        <p:attrNameLst>
                                          <p:attrName>ppt_h</p:attrName>
                                        </p:attrNameLst>
                                      </p:cBhvr>
                                      <p:tavLst>
                                        <p:tav tm="0">
                                          <p:val>
                                            <p:strVal val="#ppt_h"/>
                                          </p:val>
                                        </p:tav>
                                        <p:tav tm="100000">
                                          <p:val>
                                            <p:strVal val="#ppt_h"/>
                                          </p:val>
                                        </p:tav>
                                      </p:tavLst>
                                    </p:anim>
                                    <p:anim calcmode="lin" valueType="num">
                                      <p:cBhvr>
                                        <p:cTn id="38" dur="25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39" dur="25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40" dur="250" accel="50000" fill="hold">
                                          <p:stCondLst>
                                            <p:cond delay="250"/>
                                          </p:stCondLst>
                                        </p:cTn>
                                        <p:tgtEl>
                                          <p:spTgt spid="8"/>
                                        </p:tgtEl>
                                        <p:attrNameLst>
                                          <p:attrName>ppt_y</p:attrName>
                                        </p:attrNameLst>
                                      </p:cBhvr>
                                      <p:tavLst>
                                        <p:tav tm="0">
                                          <p:val>
                                            <p:strVal val="#ppt_y+.1"/>
                                          </p:val>
                                        </p:tav>
                                        <p:tav tm="100000">
                                          <p:val>
                                            <p:strVal val="#ppt_y"/>
                                          </p:val>
                                        </p:tav>
                                      </p:tavLst>
                                    </p:anim>
                                    <p:animEffect transition="in" filter="fade">
                                      <p:cBhvr>
                                        <p:cTn id="41" dur="500" decel="50000">
                                          <p:stCondLst>
                                            <p:cond delay="0"/>
                                          </p:stCondLst>
                                        </p:cTn>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16E22F-8452-72FA-4C35-90D0A3878195}"/>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ECB2EB8-92CC-B695-E534-CB08872B9DC3}"/>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11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FBE12DE5-49B9-D933-7E8C-34AB455AE844}"/>
              </a:ext>
            </a:extLst>
          </p:cNvPr>
          <p:cNvSpPr txBox="1"/>
          <p:nvPr/>
        </p:nvSpPr>
        <p:spPr>
          <a:xfrm>
            <a:off x="508000" y="381000"/>
            <a:ext cx="11176000" cy="384721"/>
          </a:xfrm>
          <a:prstGeom prst="rect">
            <a:avLst/>
          </a:prstGeom>
          <a:noFill/>
        </p:spPr>
        <p:txBody>
          <a:bodyPr vert="horz" wrap="square" lIns="0" tIns="0" rtlCol="0">
            <a:spAutoFit/>
          </a:bodyPr>
          <a:lstStyle/>
          <a:p>
            <a:r>
              <a:rPr lang="en-US" sz="2200" b="1">
                <a:solidFill>
                  <a:srgbClr val="F8FAFC"/>
                </a:solidFill>
                <a:latin typeface="Segoe UI" panose="020B0502040204020203" pitchFamily="34" charset="0"/>
              </a:rPr>
              <a:t>9. IoT Wearables &amp; Biometric Telemetry</a:t>
            </a:r>
            <a:endParaRPr lang="en-IN" sz="2200" b="1">
              <a:solidFill>
                <a:srgbClr val="F8FAFC"/>
              </a:solidFill>
              <a:latin typeface="Segoe UI" panose="020B0502040204020203" pitchFamily="34" charset="0"/>
            </a:endParaRPr>
          </a:p>
        </p:txBody>
      </p:sp>
      <p:sp>
        <p:nvSpPr>
          <p:cNvPr id="5" name="TextBox 4">
            <a:extLst>
              <a:ext uri="{FF2B5EF4-FFF2-40B4-BE49-F238E27FC236}">
                <a16:creationId xmlns:a16="http://schemas.microsoft.com/office/drawing/2014/main" id="{332CFF39-826E-F3A4-5FFB-1F6E624AAAD7}"/>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Real-Time Player Cardiovascular Monitoring &amp; Athlete Injury Prevention Protocols</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82EC5F6B-FF7B-66F8-C7D2-3AE9A7A23C30}"/>
              </a:ext>
            </a:extLst>
          </p:cNvPr>
          <p:cNvSpPr/>
          <p:nvPr/>
        </p:nvSpPr>
        <p:spPr>
          <a:xfrm>
            <a:off x="508000" y="1460500"/>
            <a:ext cx="3606800" cy="3683000"/>
          </a:xfrm>
          <a:prstGeom prst="roundRect">
            <a:avLst/>
          </a:prstGeom>
          <a:solidFill>
            <a:srgbClr val="141F3E"/>
          </a:solidFill>
          <a:ln w="1524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38BDF8"/>
                </a:solidFill>
                <a:latin typeface="Segoe UI" panose="020B0502040204020203" pitchFamily="34" charset="0"/>
              </a:rPr>
              <a:t>1. Telemetry Architecture</a:t>
            </a:r>
          </a:p>
          <a:p>
            <a:pPr>
              <a:spcBef>
                <a:spcPts val="300"/>
              </a:spcBef>
            </a:pPr>
            <a:r>
              <a:rPr lang="en-IN" sz="1000">
                <a:solidFill>
                  <a:srgbClr val="F8FAFC"/>
                </a:solidFill>
                <a:latin typeface="Segoe UI" panose="020B0502040204020203" pitchFamily="34" charset="0"/>
              </a:rPr>
              <a:t>• ESP32 Microcontroller: Simulated wearable sensor nodes attached to players.</a:t>
            </a:r>
          </a:p>
          <a:p>
            <a:pPr>
              <a:spcBef>
                <a:spcPts val="300"/>
              </a:spcBef>
            </a:pPr>
            <a:r>
              <a:rPr lang="en-IN" sz="1000">
                <a:solidFill>
                  <a:srgbClr val="F8FAFC"/>
                </a:solidFill>
                <a:latin typeface="Segoe UI" panose="020B0502040204020203" pitchFamily="34" charset="0"/>
              </a:rPr>
              <a:t>• Wireless Transmission: Bluetooth Low Energy (BLE) / Wi-Fi UDP packet broadcast.</a:t>
            </a:r>
          </a:p>
          <a:p>
            <a:pPr>
              <a:spcBef>
                <a:spcPts val="300"/>
              </a:spcBef>
            </a:pPr>
            <a:r>
              <a:rPr lang="en-IN" sz="1000">
                <a:solidFill>
                  <a:srgbClr val="F8FAFC"/>
                </a:solidFill>
                <a:latin typeface="Segoe UI" panose="020B0502040204020203" pitchFamily="34" charset="0"/>
              </a:rPr>
              <a:t>• 10 Hz Sample Frequency: Streams continuous heart rate (BPM) updates without latency.</a:t>
            </a:r>
          </a:p>
        </p:txBody>
      </p:sp>
      <p:sp>
        <p:nvSpPr>
          <p:cNvPr id="7" name="Rectangle: Rounded Corners 6">
            <a:extLst>
              <a:ext uri="{FF2B5EF4-FFF2-40B4-BE49-F238E27FC236}">
                <a16:creationId xmlns:a16="http://schemas.microsoft.com/office/drawing/2014/main" id="{7340DF0B-6EDD-560E-99E0-A3D46218E311}"/>
              </a:ext>
            </a:extLst>
          </p:cNvPr>
          <p:cNvSpPr/>
          <p:nvPr/>
        </p:nvSpPr>
        <p:spPr>
          <a:xfrm>
            <a:off x="4292600" y="1460500"/>
            <a:ext cx="3606800" cy="36830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10B981"/>
                </a:solidFill>
                <a:latin typeface="Segoe UI" panose="020B0502040204020203" pitchFamily="34" charset="0"/>
              </a:rPr>
              <a:t>2. Exertion &amp; Fatigue Index</a:t>
            </a:r>
          </a:p>
          <a:p>
            <a:pPr>
              <a:spcBef>
                <a:spcPts val="300"/>
              </a:spcBef>
            </a:pPr>
            <a:r>
              <a:rPr lang="en-US" sz="1000">
                <a:solidFill>
                  <a:srgbClr val="F8FAFC"/>
                </a:solidFill>
                <a:latin typeface="Segoe UI" panose="020B0502040204020203" pitchFamily="34" charset="0"/>
              </a:rPr>
              <a:t>• Cardiovascular Load Index: Correlates sustained high BPM (140–165 BPM) with sprint velocity.</a:t>
            </a:r>
          </a:p>
          <a:p>
            <a:pPr>
              <a:spcBef>
                <a:spcPts val="300"/>
              </a:spcBef>
            </a:pPr>
            <a:r>
              <a:rPr lang="en-US" sz="1000">
                <a:solidFill>
                  <a:srgbClr val="F8FAFC"/>
                </a:solidFill>
                <a:latin typeface="Segoe UI" panose="020B0502040204020203" pitchFamily="34" charset="0"/>
              </a:rPr>
              <a:t>• Athlete Recovery Rates: Measures heart rate recovery speed during match stoppages.</a:t>
            </a:r>
          </a:p>
          <a:p>
            <a:pPr>
              <a:spcBef>
                <a:spcPts val="300"/>
              </a:spcBef>
            </a:pPr>
            <a:r>
              <a:rPr lang="en-US" sz="1000">
                <a:solidFill>
                  <a:srgbClr val="F8FAFC"/>
                </a:solidFill>
                <a:latin typeface="Segoe UI" panose="020B0502040204020203" pitchFamily="34" charset="0"/>
              </a:rPr>
              <a:t>• Muscle Injury Warning: Alerts coaching staff when players reach critical cardiac fatigue.</a:t>
            </a:r>
            <a:endParaRPr lang="en-IN" sz="1000">
              <a:solidFill>
                <a:srgbClr val="F8FAFC"/>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C502A970-0D9A-C9C9-D2C9-161CCEFDC790}"/>
              </a:ext>
            </a:extLst>
          </p:cNvPr>
          <p:cNvSpPr/>
          <p:nvPr/>
        </p:nvSpPr>
        <p:spPr>
          <a:xfrm>
            <a:off x="8077200" y="1460500"/>
            <a:ext cx="3606800" cy="3683000"/>
          </a:xfrm>
          <a:prstGeom prst="roundRect">
            <a:avLst/>
          </a:prstGeom>
          <a:solidFill>
            <a:srgbClr val="141F3E"/>
          </a:solidFill>
          <a:ln w="1524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EF4444"/>
                </a:solidFill>
                <a:latin typeface="Segoe UI" panose="020B0502040204020203" pitchFamily="34" charset="0"/>
              </a:rPr>
              <a:t>3. Medical Emergency Alerts</a:t>
            </a:r>
          </a:p>
          <a:p>
            <a:pPr>
              <a:spcBef>
                <a:spcPts val="300"/>
              </a:spcBef>
            </a:pPr>
            <a:r>
              <a:rPr lang="en-IN" sz="1000">
                <a:solidFill>
                  <a:srgbClr val="F8FAFC"/>
                </a:solidFill>
                <a:latin typeface="Segoe UI" panose="020B0502040204020203" pitchFamily="34" charset="0"/>
              </a:rPr>
              <a:t>• Sudden Cardiac Spike Alert: Broadcasts emergency alert if heart rate exceeds safety limit (&gt; 190 BPM).</a:t>
            </a:r>
          </a:p>
          <a:p>
            <a:pPr>
              <a:spcBef>
                <a:spcPts val="300"/>
              </a:spcBef>
            </a:pPr>
            <a:r>
              <a:rPr lang="en-IN" sz="1000">
                <a:solidFill>
                  <a:srgbClr val="F8FAFC"/>
                </a:solidFill>
                <a:latin typeface="Segoe UI" panose="020B0502040204020203" pitchFamily="34" charset="0"/>
              </a:rPr>
              <a:t>• Collapse Detection Heuristic: Zero optical motion combined with erratic heart rate alerts match doctors.</a:t>
            </a:r>
          </a:p>
          <a:p>
            <a:pPr>
              <a:spcBef>
                <a:spcPts val="300"/>
              </a:spcBef>
            </a:pPr>
            <a:r>
              <a:rPr lang="en-IN" sz="1000">
                <a:solidFill>
                  <a:srgbClr val="F8FAFC"/>
                </a:solidFill>
                <a:latin typeface="Segoe UI" panose="020B0502040204020203" pitchFamily="34" charset="0"/>
              </a:rPr>
              <a:t>• Grassroots Player Welfare: Brings elite medical telemetry protocols to collegiate and school athletics.</a:t>
            </a:r>
          </a:p>
        </p:txBody>
      </p:sp>
      <p:sp>
        <p:nvSpPr>
          <p:cNvPr id="9" name="Rectangle: Rounded Corners 8">
            <a:extLst>
              <a:ext uri="{FF2B5EF4-FFF2-40B4-BE49-F238E27FC236}">
                <a16:creationId xmlns:a16="http://schemas.microsoft.com/office/drawing/2014/main" id="{1BC29E8B-B7A3-0EC5-996E-1EA0C5F1C9B7}"/>
              </a:ext>
            </a:extLst>
          </p:cNvPr>
          <p:cNvSpPr/>
          <p:nvPr/>
        </p:nvSpPr>
        <p:spPr>
          <a:xfrm>
            <a:off x="508000" y="5334000"/>
            <a:ext cx="11176000" cy="889000"/>
          </a:xfrm>
          <a:prstGeom prst="roundRect">
            <a:avLst/>
          </a:prstGeom>
          <a:solidFill>
            <a:srgbClr val="141F3E"/>
          </a:solidFill>
          <a:ln w="1905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wrap="square" lIns="203200" tIns="127000" rtlCol="0" anchor="ctr"/>
          <a:lstStyle/>
          <a:p>
            <a:r>
              <a:rPr lang="en-IN" sz="1100" b="1">
                <a:solidFill>
                  <a:srgbClr val="EF4444"/>
                </a:solidFill>
              </a:rPr>
              <a:t>♥ LIVE BIOMETRIC TELEMETRY HUD (SYNCHRONIZED WITH VIDEO):</a:t>
            </a:r>
          </a:p>
          <a:p>
            <a:pPr>
              <a:spcBef>
                <a:spcPts val="300"/>
              </a:spcBef>
            </a:pPr>
            <a:r>
              <a:rPr lang="en-IN" sz="1000">
                <a:solidFill>
                  <a:srgbClr val="F8FAFC"/>
                </a:solidFill>
              </a:rPr>
              <a:t>Player #10 (Forward): 154 BPM [High Exertion]  |  Player #04 (Defender): 128 BPM [Nominal]  |  Player #01 (Goalkeeper): 98 BPM [Resting]</a:t>
            </a:r>
          </a:p>
          <a:p>
            <a:r>
              <a:rPr lang="en-IN" sz="950">
                <a:solidFill>
                  <a:srgbClr val="94A3B8"/>
                </a:solidFill>
              </a:rPr>
              <a:t>Automatic emergency medical alert triggered if sustained heart rate exceeds 190 BPM.</a:t>
            </a:r>
          </a:p>
        </p:txBody>
      </p:sp>
    </p:spTree>
    <p:extLst>
      <p:ext uri="{BB962C8B-B14F-4D97-AF65-F5344CB8AC3E}">
        <p14:creationId xmlns:p14="http://schemas.microsoft.com/office/powerpoint/2010/main" val="543766403"/>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2" presetClass="entr" presetSubtype="4" fill="hold" grpId="0" nodeType="withEffect">
                                  <p:stCondLst>
                                    <p:cond delay="15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27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39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par>
                          <p:cTn id="25" fill="hold">
                            <p:stCondLst>
                              <p:cond delay="890"/>
                            </p:stCondLst>
                            <p:childTnLst>
                              <p:par>
                                <p:cTn id="26" presetID="6" presetClass="entr" presetSubtype="16"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ircle(in)">
                                      <p:cBhvr>
                                        <p:cTn id="28" dur="500"/>
                                        <p:tgtEl>
                                          <p:spTgt spid="9"/>
                                        </p:tgtEl>
                                      </p:cBhvr>
                                    </p:animEffect>
                                  </p:childTnLst>
                                </p:cTn>
                              </p:par>
                            </p:childTnLst>
                          </p:cTn>
                        </p:par>
                        <p:par>
                          <p:cTn id="29" fill="hold">
                            <p:stCondLst>
                              <p:cond delay="1390"/>
                            </p:stCondLst>
                            <p:childTnLst>
                              <p:par>
                                <p:cTn id="30" presetID="8" presetClass="entr" presetSubtype="16" fill="hold" grpId="1"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diamond(in)">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70F96A-743F-9B7E-34B4-23F36BBAB65A}"/>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50B8FD43-01FC-E1D6-DF0F-A704B6808E52}"/>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12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9BAFFE73-DFBD-739D-206C-F70AEC17EE8B}"/>
              </a:ext>
            </a:extLst>
          </p:cNvPr>
          <p:cNvSpPr txBox="1"/>
          <p:nvPr/>
        </p:nvSpPr>
        <p:spPr>
          <a:xfrm>
            <a:off x="508000" y="381000"/>
            <a:ext cx="11176000" cy="384721"/>
          </a:xfrm>
          <a:prstGeom prst="rect">
            <a:avLst/>
          </a:prstGeom>
          <a:noFill/>
        </p:spPr>
        <p:txBody>
          <a:bodyPr vert="horz" wrap="square" lIns="0" tIns="0" rtlCol="0">
            <a:spAutoFit/>
          </a:bodyPr>
          <a:lstStyle/>
          <a:p>
            <a:r>
              <a:rPr lang="en-US" sz="2200" b="1">
                <a:solidFill>
                  <a:srgbClr val="F8FAFC"/>
                </a:solidFill>
                <a:latin typeface="Segoe UI" panose="020B0502040204020203" pitchFamily="34" charset="0"/>
              </a:rPr>
              <a:t>10. System Design &amp; UML Blueprints</a:t>
            </a:r>
            <a:endParaRPr lang="en-IN" sz="2200" b="1">
              <a:solidFill>
                <a:srgbClr val="F8FAFC"/>
              </a:solidFill>
              <a:latin typeface="Segoe UI" panose="020B0502040204020203" pitchFamily="34" charset="0"/>
            </a:endParaRPr>
          </a:p>
        </p:txBody>
      </p:sp>
      <p:sp>
        <p:nvSpPr>
          <p:cNvPr id="5" name="TextBox 4">
            <a:extLst>
              <a:ext uri="{FF2B5EF4-FFF2-40B4-BE49-F238E27FC236}">
                <a16:creationId xmlns:a16="http://schemas.microsoft.com/office/drawing/2014/main" id="{AA7176A2-E2EA-5EC0-F0D5-59EC591028FC}"/>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Context Level Diagram (Level 0) and Level 1 Data Flow Diagram (From Synopsis Chapter 9)</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2C85A0AF-A1A5-3034-35EE-770111F787AA}"/>
              </a:ext>
            </a:extLst>
          </p:cNvPr>
          <p:cNvSpPr/>
          <p:nvPr/>
        </p:nvSpPr>
        <p:spPr>
          <a:xfrm>
            <a:off x="482600" y="1435100"/>
            <a:ext cx="5511800" cy="3098800"/>
          </a:xfrm>
          <a:prstGeom prst="roundRect">
            <a:avLst/>
          </a:prstGeom>
          <a:solidFill>
            <a:srgbClr val="141F3E"/>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CA92374D-EEA3-DA30-3FB1-D0E6DF58B1A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8000" y="1460500"/>
            <a:ext cx="5461000" cy="3048000"/>
          </a:xfrm>
          <a:prstGeom prst="rect">
            <a:avLst/>
          </a:prstGeom>
        </p:spPr>
      </p:pic>
      <p:sp>
        <p:nvSpPr>
          <p:cNvPr id="9" name="TextBox 8">
            <a:extLst>
              <a:ext uri="{FF2B5EF4-FFF2-40B4-BE49-F238E27FC236}">
                <a16:creationId xmlns:a16="http://schemas.microsoft.com/office/drawing/2014/main" id="{17531B61-E633-73B9-7FAC-2E37A8BE65E1}"/>
              </a:ext>
            </a:extLst>
          </p:cNvPr>
          <p:cNvSpPr txBox="1"/>
          <p:nvPr/>
        </p:nvSpPr>
        <p:spPr>
          <a:xfrm>
            <a:off x="508000" y="4584700"/>
            <a:ext cx="5461000" cy="200055"/>
          </a:xfrm>
          <a:prstGeom prst="rect">
            <a:avLst/>
          </a:prstGeom>
          <a:noFill/>
        </p:spPr>
        <p:txBody>
          <a:bodyPr vert="horz" wrap="square" lIns="0" tIns="0" rtlCol="0">
            <a:spAutoFit/>
          </a:bodyPr>
          <a:lstStyle/>
          <a:p>
            <a:r>
              <a:rPr lang="en-IN" sz="1000" b="1">
                <a:solidFill>
                  <a:srgbClr val="38BDF8"/>
                </a:solidFill>
                <a:latin typeface="Segoe UI" panose="020B0502040204020203" pitchFamily="34" charset="0"/>
              </a:rPr>
              <a:t>Figure 9.1: Context Level Diagram (External Entities &amp; Boundary)</a:t>
            </a:r>
          </a:p>
        </p:txBody>
      </p:sp>
      <p:sp>
        <p:nvSpPr>
          <p:cNvPr id="10" name="Rectangle: Rounded Corners 9">
            <a:extLst>
              <a:ext uri="{FF2B5EF4-FFF2-40B4-BE49-F238E27FC236}">
                <a16:creationId xmlns:a16="http://schemas.microsoft.com/office/drawing/2014/main" id="{0B50AF75-826D-853A-6C50-3088A9B1918E}"/>
              </a:ext>
            </a:extLst>
          </p:cNvPr>
          <p:cNvSpPr/>
          <p:nvPr/>
        </p:nvSpPr>
        <p:spPr>
          <a:xfrm>
            <a:off x="6197600" y="1435100"/>
            <a:ext cx="5511800" cy="3098800"/>
          </a:xfrm>
          <a:prstGeom prst="roundRect">
            <a:avLst/>
          </a:prstGeom>
          <a:solidFill>
            <a:srgbClr val="141F3E"/>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91A4D0C4-458E-AB6B-6CAE-5CCEA4764A1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223000" y="1460500"/>
            <a:ext cx="5461000" cy="3048000"/>
          </a:xfrm>
          <a:prstGeom prst="rect">
            <a:avLst/>
          </a:prstGeom>
        </p:spPr>
      </p:pic>
      <p:sp>
        <p:nvSpPr>
          <p:cNvPr id="13" name="TextBox 12">
            <a:extLst>
              <a:ext uri="{FF2B5EF4-FFF2-40B4-BE49-F238E27FC236}">
                <a16:creationId xmlns:a16="http://schemas.microsoft.com/office/drawing/2014/main" id="{873C12FD-F08A-C08A-E67F-9819BB3FDAE2}"/>
              </a:ext>
            </a:extLst>
          </p:cNvPr>
          <p:cNvSpPr txBox="1"/>
          <p:nvPr/>
        </p:nvSpPr>
        <p:spPr>
          <a:xfrm>
            <a:off x="6223000" y="4584700"/>
            <a:ext cx="5461000" cy="200055"/>
          </a:xfrm>
          <a:prstGeom prst="rect">
            <a:avLst/>
          </a:prstGeom>
          <a:noFill/>
        </p:spPr>
        <p:txBody>
          <a:bodyPr vert="horz" wrap="square" lIns="0" tIns="0" rtlCol="0">
            <a:spAutoFit/>
          </a:bodyPr>
          <a:lstStyle/>
          <a:p>
            <a:r>
              <a:rPr lang="en-US" sz="1000" b="1">
                <a:solidFill>
                  <a:srgbClr val="38BDF8"/>
                </a:solidFill>
                <a:latin typeface="Segoe UI" panose="020B0502040204020203" pitchFamily="34" charset="0"/>
              </a:rPr>
              <a:t>Figure 9.2: Level 1 Data Flow Diagram (Process Pipelines)</a:t>
            </a:r>
            <a:endParaRPr lang="en-IN" sz="1000" b="1">
              <a:solidFill>
                <a:srgbClr val="38BDF8"/>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6EBBE47E-DCB7-FBE4-21D3-DBCD6C7A43AE}"/>
              </a:ext>
            </a:extLst>
          </p:cNvPr>
          <p:cNvSpPr/>
          <p:nvPr/>
        </p:nvSpPr>
        <p:spPr>
          <a:xfrm>
            <a:off x="508000" y="5016500"/>
            <a:ext cx="11176000" cy="1206500"/>
          </a:xfrm>
          <a:prstGeom prst="roundRect">
            <a:avLst/>
          </a:prstGeom>
          <a:solidFill>
            <a:srgbClr val="141F3E"/>
          </a:solidFill>
          <a:ln w="1524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203200" tIns="127000" rtlCol="0" anchor="ctr"/>
          <a:lstStyle/>
          <a:p>
            <a:r>
              <a:rPr lang="en-IN" sz="1100" b="1">
                <a:solidFill>
                  <a:srgbClr val="38BDF8"/>
                </a:solidFill>
              </a:rPr>
              <a:t>ADDITIONAL SYSTEM DESIGN SPECIFICATIONS (FROM CHAPTER 9):</a:t>
            </a:r>
          </a:p>
          <a:p>
            <a:pPr>
              <a:spcBef>
                <a:spcPts val="200"/>
              </a:spcBef>
            </a:pPr>
            <a:r>
              <a:rPr lang="en-IN" sz="950">
                <a:solidFill>
                  <a:srgbClr val="F8FAFC"/>
                </a:solidFill>
              </a:rPr>
              <a:t>• Sequence Diagram (Fig 9.3): Sub-millisecond asynchronous handoff between FastAPI worker threads and OpenCV frame buffers.</a:t>
            </a:r>
          </a:p>
          <a:p>
            <a:pPr>
              <a:spcBef>
                <a:spcPts val="200"/>
              </a:spcBef>
            </a:pPr>
            <a:r>
              <a:rPr lang="en-IN" sz="950">
                <a:solidFill>
                  <a:srgbClr val="F8FAFC"/>
                </a:solidFill>
              </a:rPr>
              <a:t>• Entity-Relationship Diagram (Fig 9.4): Relational schema organizing match sessions, multi-camera feeds, incident logs, and squad rosters.</a:t>
            </a:r>
          </a:p>
          <a:p>
            <a:pPr>
              <a:spcBef>
                <a:spcPts val="200"/>
              </a:spcBef>
            </a:pPr>
            <a:r>
              <a:rPr lang="en-IN" sz="950">
                <a:solidFill>
                  <a:srgbClr val="F8FAFC"/>
                </a:solidFill>
              </a:rPr>
              <a:t>• Control Flow Diagram (Fig 9.5): Strict algorithmic decision tree prioritizing goal-line checks, card raises, and box collision warnings.</a:t>
            </a:r>
          </a:p>
        </p:txBody>
      </p:sp>
    </p:spTree>
    <p:extLst>
      <p:ext uri="{BB962C8B-B14F-4D97-AF65-F5344CB8AC3E}">
        <p14:creationId xmlns:p14="http://schemas.microsoft.com/office/powerpoint/2010/main" val="800104677"/>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6" presetClass="entr" presetSubtype="16"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circle(in)">
                                      <p:cBhvr>
                                        <p:cTn id="19" dur="500"/>
                                        <p:tgtEl>
                                          <p:spTgt spid="8"/>
                                        </p:tgtEl>
                                      </p:cBhvr>
                                    </p:animEffect>
                                  </p:childTnLst>
                                </p:cTn>
                              </p:par>
                              <p:par>
                                <p:cTn id="20" presetID="2" presetClass="entr" presetSubtype="2" fill="hold" grpId="0" nodeType="withEffect">
                                  <p:stCondLst>
                                    <p:cond delay="20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1+#ppt_w/2"/>
                                          </p:val>
                                        </p:tav>
                                        <p:tav tm="100000">
                                          <p:val>
                                            <p:strVal val="#ppt_x"/>
                                          </p:val>
                                        </p:tav>
                                      </p:tavLst>
                                    </p:anim>
                                    <p:anim calcmode="lin" valueType="num">
                                      <p:cBhvr additive="base">
                                        <p:cTn id="23" dur="500" fill="hold"/>
                                        <p:tgtEl>
                                          <p:spTgt spid="10"/>
                                        </p:tgtEl>
                                        <p:attrNameLst>
                                          <p:attrName>ppt_y</p:attrName>
                                        </p:attrNameLst>
                                      </p:cBhvr>
                                      <p:tavLst>
                                        <p:tav tm="0">
                                          <p:val>
                                            <p:strVal val="#ppt_y"/>
                                          </p:val>
                                        </p:tav>
                                        <p:tav tm="100000">
                                          <p:val>
                                            <p:strVal val="#ppt_y"/>
                                          </p:val>
                                        </p:tav>
                                      </p:tavLst>
                                    </p:anim>
                                  </p:childTnLst>
                                </p:cTn>
                              </p:par>
                              <p:par>
                                <p:cTn id="24" presetID="6" presetClass="entr" presetSubtype="16" fill="hold" nodeType="withEffect">
                                  <p:stCondLst>
                                    <p:cond delay="200"/>
                                  </p:stCondLst>
                                  <p:childTnLst>
                                    <p:set>
                                      <p:cBhvr>
                                        <p:cTn id="25" dur="1" fill="hold">
                                          <p:stCondLst>
                                            <p:cond delay="0"/>
                                          </p:stCondLst>
                                        </p:cTn>
                                        <p:tgtEl>
                                          <p:spTgt spid="12"/>
                                        </p:tgtEl>
                                        <p:attrNameLst>
                                          <p:attrName>style.visibility</p:attrName>
                                        </p:attrNameLst>
                                      </p:cBhvr>
                                      <p:to>
                                        <p:strVal val="visible"/>
                                      </p:to>
                                    </p:set>
                                    <p:animEffect transition="in" filter="circle(in)">
                                      <p:cBhvr>
                                        <p:cTn id="26" dur="500"/>
                                        <p:tgtEl>
                                          <p:spTgt spid="12"/>
                                        </p:tgtEl>
                                      </p:cBhvr>
                                    </p:animEffect>
                                  </p:childTnLst>
                                </p:cTn>
                              </p:par>
                            </p:childTnLst>
                          </p:cTn>
                        </p:par>
                        <p:par>
                          <p:cTn id="27" fill="hold">
                            <p:stCondLst>
                              <p:cond delay="700"/>
                            </p:stCondLst>
                            <p:childTnLst>
                              <p:par>
                                <p:cTn id="28" presetID="28"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p:cTn id="30" dur="400" fill="hold"/>
                                        <p:tgtEl>
                                          <p:spTgt spid="14"/>
                                        </p:tgtEl>
                                        <p:attrNameLst>
                                          <p:attrName>ppt_x</p:attrName>
                                        </p:attrNameLst>
                                      </p:cBhvr>
                                      <p:tavLst>
                                        <p:tav tm="0">
                                          <p:val>
                                            <p:strVal val="#ppt_x"/>
                                          </p:val>
                                        </p:tav>
                                        <p:tav tm="100000">
                                          <p:val>
                                            <p:strVal val="#ppt_x"/>
                                          </p:val>
                                        </p:tav>
                                      </p:tavLst>
                                    </p:anim>
                                    <p:anim calcmode="lin" valueType="num">
                                      <p:cBhvr>
                                        <p:cTn id="31" dur="400" fill="hold"/>
                                        <p:tgtEl>
                                          <p:spTgt spid="14"/>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10"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FF1B034-7315-7C53-DCF8-4FB30A8A1F6B}"/>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664C227-49BD-BB2D-50D9-AFE0772064E0}"/>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13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543189AC-9CDD-2A3A-E172-A8BA6DE17A9B}"/>
              </a:ext>
            </a:extLst>
          </p:cNvPr>
          <p:cNvSpPr txBox="1"/>
          <p:nvPr/>
        </p:nvSpPr>
        <p:spPr>
          <a:xfrm>
            <a:off x="508000" y="381000"/>
            <a:ext cx="11176000" cy="384721"/>
          </a:xfrm>
          <a:prstGeom prst="rect">
            <a:avLst/>
          </a:prstGeom>
          <a:noFill/>
        </p:spPr>
        <p:txBody>
          <a:bodyPr vert="horz" wrap="square" lIns="0" tIns="0" rtlCol="0">
            <a:spAutoFit/>
          </a:bodyPr>
          <a:lstStyle/>
          <a:p>
            <a:r>
              <a:rPr lang="fr-FR" sz="2200" b="1">
                <a:solidFill>
                  <a:srgbClr val="F8FAFC"/>
                </a:solidFill>
                <a:latin typeface="Segoe UI" panose="020B0502040204020203" pitchFamily="34" charset="0"/>
              </a:rPr>
              <a:t>11. Implementation: Autonomous VAR Studio HUD</a:t>
            </a:r>
            <a:endParaRPr lang="en-IN" sz="2200" b="1">
              <a:solidFill>
                <a:srgbClr val="F8FAFC"/>
              </a:solidFill>
              <a:latin typeface="Segoe UI" panose="020B0502040204020203" pitchFamily="34" charset="0"/>
            </a:endParaRPr>
          </a:p>
        </p:txBody>
      </p:sp>
      <p:sp>
        <p:nvSpPr>
          <p:cNvPr id="5" name="TextBox 4">
            <a:extLst>
              <a:ext uri="{FF2B5EF4-FFF2-40B4-BE49-F238E27FC236}">
                <a16:creationId xmlns:a16="http://schemas.microsoft.com/office/drawing/2014/main" id="{334B26A5-1F5C-168E-A0AB-E6EE34912989}"/>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React 19 &amp; Tailwind CSS Operator Cockpit (From Synopsis Figure 10.1)</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2C9C74E0-4C1D-B483-8D06-BE6E3690399E}"/>
              </a:ext>
            </a:extLst>
          </p:cNvPr>
          <p:cNvSpPr/>
          <p:nvPr/>
        </p:nvSpPr>
        <p:spPr>
          <a:xfrm>
            <a:off x="482600" y="1435100"/>
            <a:ext cx="6146800" cy="3479800"/>
          </a:xfrm>
          <a:prstGeom prst="roundRect">
            <a:avLst/>
          </a:prstGeom>
          <a:solidFill>
            <a:srgbClr val="141F3E"/>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BB49C28F-E0CD-9F8F-CC54-D790FDE9760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8000" y="1460500"/>
            <a:ext cx="6096000" cy="3429000"/>
          </a:xfrm>
          <a:prstGeom prst="rect">
            <a:avLst/>
          </a:prstGeom>
        </p:spPr>
      </p:pic>
      <p:sp>
        <p:nvSpPr>
          <p:cNvPr id="9" name="TextBox 8">
            <a:extLst>
              <a:ext uri="{FF2B5EF4-FFF2-40B4-BE49-F238E27FC236}">
                <a16:creationId xmlns:a16="http://schemas.microsoft.com/office/drawing/2014/main" id="{828A3F40-883A-D495-8AC9-8F565E0C82C0}"/>
              </a:ext>
            </a:extLst>
          </p:cNvPr>
          <p:cNvSpPr txBox="1"/>
          <p:nvPr/>
        </p:nvSpPr>
        <p:spPr>
          <a:xfrm>
            <a:off x="508000" y="4965700"/>
            <a:ext cx="6096000" cy="200055"/>
          </a:xfrm>
          <a:prstGeom prst="rect">
            <a:avLst/>
          </a:prstGeom>
          <a:noFill/>
        </p:spPr>
        <p:txBody>
          <a:bodyPr vert="horz" wrap="square" lIns="0" tIns="0" rtlCol="0">
            <a:spAutoFit/>
          </a:bodyPr>
          <a:lstStyle/>
          <a:p>
            <a:r>
              <a:rPr lang="en-US" sz="1000" b="1">
                <a:solidFill>
                  <a:srgbClr val="38BDF8"/>
                </a:solidFill>
                <a:latin typeface="Segoe UI" panose="020B0502040204020203" pitchFamily="34" charset="0"/>
              </a:rPr>
              <a:t>Figure 10.1: Autonomous VAR Studio Dashboard &amp; Vision Stream Output</a:t>
            </a:r>
            <a:endParaRPr lang="en-IN" sz="1000" b="1">
              <a:solidFill>
                <a:srgbClr val="38BDF8"/>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033A625E-57C4-5562-6B3D-A49FE33115DC}"/>
              </a:ext>
            </a:extLst>
          </p:cNvPr>
          <p:cNvSpPr/>
          <p:nvPr/>
        </p:nvSpPr>
        <p:spPr>
          <a:xfrm>
            <a:off x="6858000" y="1460500"/>
            <a:ext cx="4826000" cy="1079500"/>
          </a:xfrm>
          <a:prstGeom prst="roundRect">
            <a:avLst/>
          </a:prstGeom>
          <a:solidFill>
            <a:srgbClr val="141F3E"/>
          </a:solidFill>
          <a:ln w="1524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38BDF8"/>
                </a:solidFill>
                <a:latin typeface="Segoe UI" panose="020B0502040204020203" pitchFamily="34" charset="0"/>
              </a:rPr>
              <a:t>1. Multi-Camera Feed Selector</a:t>
            </a:r>
          </a:p>
          <a:p>
            <a:pPr>
              <a:spcBef>
                <a:spcPts val="300"/>
              </a:spcBef>
            </a:pPr>
            <a:r>
              <a:rPr lang="en-IN" sz="1000">
                <a:solidFill>
                  <a:srgbClr val="F8FAFC"/>
                </a:solidFill>
                <a:latin typeface="Segoe UI" panose="020B0502040204020203" pitchFamily="34" charset="0"/>
              </a:rPr>
              <a:t>• Instant switching between Main Camera, Tactical Panoramic, and Behind-Goal angles.</a:t>
            </a:r>
          </a:p>
          <a:p>
            <a:pPr>
              <a:spcBef>
                <a:spcPts val="300"/>
              </a:spcBef>
            </a:pPr>
            <a:r>
              <a:rPr lang="en-IN" sz="1000">
                <a:solidFill>
                  <a:srgbClr val="F8FAFC"/>
                </a:solidFill>
                <a:latin typeface="Segoe UI" panose="020B0502040204020203" pitchFamily="34" charset="0"/>
              </a:rPr>
              <a:t>• Zero stream buffering delay via asynchronous MJPEG multipart endpoints.</a:t>
            </a:r>
          </a:p>
        </p:txBody>
      </p:sp>
      <p:sp>
        <p:nvSpPr>
          <p:cNvPr id="11" name="Rectangle: Rounded Corners 10">
            <a:extLst>
              <a:ext uri="{FF2B5EF4-FFF2-40B4-BE49-F238E27FC236}">
                <a16:creationId xmlns:a16="http://schemas.microsoft.com/office/drawing/2014/main" id="{8657A5F3-5574-417F-B0B5-7AD5F68433DD}"/>
              </a:ext>
            </a:extLst>
          </p:cNvPr>
          <p:cNvSpPr/>
          <p:nvPr/>
        </p:nvSpPr>
        <p:spPr>
          <a:xfrm>
            <a:off x="6858000" y="2667000"/>
            <a:ext cx="4826000" cy="10795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10B981"/>
                </a:solidFill>
                <a:latin typeface="Segoe UI" panose="020B0502040204020203" pitchFamily="34" charset="0"/>
              </a:rPr>
              <a:t>2. Real-Time AI Incident Feed</a:t>
            </a:r>
          </a:p>
          <a:p>
            <a:pPr>
              <a:spcBef>
                <a:spcPts val="300"/>
              </a:spcBef>
            </a:pPr>
            <a:r>
              <a:rPr lang="en-US" sz="1000">
                <a:solidFill>
                  <a:srgbClr val="F8FAFC"/>
                </a:solidFill>
                <a:latin typeface="Segoe UI" panose="020B0502040204020203" pitchFamily="34" charset="0"/>
              </a:rPr>
              <a:t>• Real-time event cards: Yellow/Red Card, Ball Out of Bounds, Penalty Collision.</a:t>
            </a:r>
          </a:p>
          <a:p>
            <a:pPr>
              <a:spcBef>
                <a:spcPts val="300"/>
              </a:spcBef>
            </a:pPr>
            <a:r>
              <a:rPr lang="en-US" sz="1000">
                <a:solidFill>
                  <a:srgbClr val="F8FAFC"/>
                </a:solidFill>
                <a:latin typeface="Segoe UI" panose="020B0502040204020203" pitchFamily="34" charset="0"/>
              </a:rPr>
              <a:t>• Displays precise timestamp and AI confidence rating (e.g. 98.4% Confidence).</a:t>
            </a:r>
            <a:endParaRPr lang="en-IN" sz="1000">
              <a:solidFill>
                <a:srgbClr val="F8FAFC"/>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1A9E6964-6BFA-5BBB-A340-9F125DFC3C66}"/>
              </a:ext>
            </a:extLst>
          </p:cNvPr>
          <p:cNvSpPr/>
          <p:nvPr/>
        </p:nvSpPr>
        <p:spPr>
          <a:xfrm>
            <a:off x="6858000" y="3873500"/>
            <a:ext cx="4826000" cy="1079500"/>
          </a:xfrm>
          <a:prstGeom prst="roundRect">
            <a:avLst/>
          </a:prstGeom>
          <a:solidFill>
            <a:srgbClr val="141F3E"/>
          </a:solidFill>
          <a:ln w="1524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F59E0B"/>
                </a:solidFill>
                <a:latin typeface="Segoe UI" panose="020B0502040204020203" pitchFamily="34" charset="0"/>
              </a:rPr>
              <a:t>3. Match Setup &amp; Squad Portal</a:t>
            </a:r>
          </a:p>
          <a:p>
            <a:pPr>
              <a:spcBef>
                <a:spcPts val="300"/>
              </a:spcBef>
            </a:pPr>
            <a:r>
              <a:rPr lang="en-US" sz="1000">
                <a:solidFill>
                  <a:srgbClr val="F8FAFC"/>
                </a:solidFill>
                <a:latin typeface="Segoe UI" panose="020B0502040204020203" pitchFamily="34" charset="0"/>
              </a:rPr>
              <a:t>• Configure participating teams, team colors, and tactical formations.</a:t>
            </a:r>
          </a:p>
          <a:p>
            <a:pPr>
              <a:spcBef>
                <a:spcPts val="300"/>
              </a:spcBef>
            </a:pPr>
            <a:r>
              <a:rPr lang="en-US" sz="1000">
                <a:solidFill>
                  <a:srgbClr val="F8FAFC"/>
                </a:solidFill>
                <a:latin typeface="Segoe UI" panose="020B0502040204020203" pitchFamily="34" charset="0"/>
              </a:rPr>
              <a:t>• Register player squad numbers, biometric sensor IDs, and tactical roles.</a:t>
            </a:r>
            <a:endParaRPr lang="en-IN" sz="1000">
              <a:solidFill>
                <a:srgbClr val="F8FAFC"/>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C78F25A8-9C69-7C6F-39B5-70B569DB10DD}"/>
              </a:ext>
            </a:extLst>
          </p:cNvPr>
          <p:cNvSpPr/>
          <p:nvPr/>
        </p:nvSpPr>
        <p:spPr>
          <a:xfrm>
            <a:off x="508000" y="5334000"/>
            <a:ext cx="11176000" cy="889000"/>
          </a:xfrm>
          <a:prstGeom prst="roundRect">
            <a:avLst/>
          </a:prstGeom>
          <a:solidFill>
            <a:srgbClr val="141F3E"/>
          </a:solidFill>
          <a:ln w="15240">
            <a:solidFill>
              <a:srgbClr val="2D4478"/>
            </a:solidFill>
          </a:ln>
        </p:spPr>
        <p:style>
          <a:lnRef idx="2">
            <a:schemeClr val="accent1">
              <a:shade val="15000"/>
            </a:schemeClr>
          </a:lnRef>
          <a:fillRef idx="1">
            <a:schemeClr val="accent1"/>
          </a:fillRef>
          <a:effectRef idx="0">
            <a:schemeClr val="accent1"/>
          </a:effectRef>
          <a:fontRef idx="minor">
            <a:schemeClr val="lt1"/>
          </a:fontRef>
        </p:style>
        <p:txBody>
          <a:bodyPr wrap="square" lIns="203200" tIns="127000" rtlCol="0" anchor="ctr"/>
          <a:lstStyle/>
          <a:p>
            <a:r>
              <a:rPr lang="en-IN" sz="1100" b="1">
                <a:solidFill>
                  <a:srgbClr val="38BDF8"/>
                </a:solidFill>
              </a:rPr>
              <a:t>FULL-STACK TECHNOLOGY ARCHITECTURE:</a:t>
            </a:r>
          </a:p>
          <a:p>
            <a:pPr>
              <a:spcBef>
                <a:spcPts val="200"/>
              </a:spcBef>
            </a:pPr>
            <a:r>
              <a:rPr lang="en-IN" sz="980">
                <a:solidFill>
                  <a:srgbClr val="F8FAFC"/>
                </a:solidFill>
              </a:rPr>
              <a:t>• Backend: FastAPI (Python 3.12), Starlette ASGI, Uvicorn streaming server, OpenCV 5.0 computer vision pipeline.</a:t>
            </a:r>
          </a:p>
          <a:p>
            <a:pPr>
              <a:spcBef>
                <a:spcPts val="200"/>
              </a:spcBef>
            </a:pPr>
            <a:r>
              <a:rPr lang="en-IN" sz="980">
                <a:solidFill>
                  <a:srgbClr val="F8FAFC"/>
                </a:solidFill>
              </a:rPr>
              <a:t>• Frontend: React 19, Vite, Tailwind CSS, Lucide Icons; communicates via asynchronous RESTful polling and MJPEG video feeds.</a:t>
            </a:r>
          </a:p>
        </p:txBody>
      </p:sp>
    </p:spTree>
    <p:extLst>
      <p:ext uri="{BB962C8B-B14F-4D97-AF65-F5344CB8AC3E}">
        <p14:creationId xmlns:p14="http://schemas.microsoft.com/office/powerpoint/2010/main" val="3468588038"/>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6"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circle(in)">
                                      <p:cBhvr>
                                        <p:cTn id="15" dur="500"/>
                                        <p:tgtEl>
                                          <p:spTgt spid="6"/>
                                        </p:tgtEl>
                                      </p:cBhvr>
                                    </p:animEffect>
                                  </p:childTnLst>
                                </p:cTn>
                              </p:par>
                              <p:par>
                                <p:cTn id="16" presetID="6" presetClass="entr" presetSubtype="16"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circle(in)">
                                      <p:cBhvr>
                                        <p:cTn id="18" dur="500"/>
                                        <p:tgtEl>
                                          <p:spTgt spid="8"/>
                                        </p:tgtEl>
                                      </p:cBhvr>
                                    </p:animEffect>
                                  </p:childTnLst>
                                </p:cTn>
                              </p:par>
                              <p:par>
                                <p:cTn id="19" presetID="2" presetClass="entr" presetSubtype="2" fill="hold" grpId="0" nodeType="withEffect">
                                  <p:stCondLst>
                                    <p:cond delay="20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1+#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32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1+#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44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1+#ppt_w/2"/>
                                          </p:val>
                                        </p:tav>
                                        <p:tav tm="100000">
                                          <p:val>
                                            <p:strVal val="#ppt_x"/>
                                          </p:val>
                                        </p:tav>
                                      </p:tavLst>
                                    </p:anim>
                                    <p:anim calcmode="lin" valueType="num">
                                      <p:cBhvr additive="base">
                                        <p:cTn id="30" dur="500" fill="hold"/>
                                        <p:tgtEl>
                                          <p:spTgt spid="12"/>
                                        </p:tgtEl>
                                        <p:attrNameLst>
                                          <p:attrName>ppt_y</p:attrName>
                                        </p:attrNameLst>
                                      </p:cBhvr>
                                      <p:tavLst>
                                        <p:tav tm="0">
                                          <p:val>
                                            <p:strVal val="#ppt_y"/>
                                          </p:val>
                                        </p:tav>
                                        <p:tav tm="100000">
                                          <p:val>
                                            <p:strVal val="#ppt_y"/>
                                          </p:val>
                                        </p:tav>
                                      </p:tavLst>
                                    </p:anim>
                                  </p:childTnLst>
                                </p:cTn>
                              </p:par>
                            </p:childTnLst>
                          </p:cTn>
                        </p:par>
                        <p:par>
                          <p:cTn id="31" fill="hold">
                            <p:stCondLst>
                              <p:cond delay="940"/>
                            </p:stCondLst>
                            <p:childTnLst>
                              <p:par>
                                <p:cTn id="32" presetID="28"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p:cTn id="34" dur="400" fill="hold"/>
                                        <p:tgtEl>
                                          <p:spTgt spid="13"/>
                                        </p:tgtEl>
                                        <p:attrNameLst>
                                          <p:attrName>ppt_x</p:attrName>
                                        </p:attrNameLst>
                                      </p:cBhvr>
                                      <p:tavLst>
                                        <p:tav tm="0">
                                          <p:val>
                                            <p:strVal val="#ppt_x"/>
                                          </p:val>
                                        </p:tav>
                                        <p:tav tm="100000">
                                          <p:val>
                                            <p:strVal val="#ppt_x"/>
                                          </p:val>
                                        </p:tav>
                                      </p:tavLst>
                                    </p:anim>
                                    <p:anim calcmode="lin" valueType="num">
                                      <p:cBhvr>
                                        <p:cTn id="35" dur="400" fill="hold"/>
                                        <p:tgtEl>
                                          <p:spTgt spid="13"/>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10" grpId="0" animBg="1"/>
      <p:bldP spid="11" grpId="0" animBg="1"/>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5F27EF-5B6F-E569-F355-9580537A3ACD}"/>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ECF654A-0693-B21A-F7EB-69BADAD499F4}"/>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14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7216FB40-D5DC-ED8A-7801-66DCE09CFE24}"/>
              </a:ext>
            </a:extLst>
          </p:cNvPr>
          <p:cNvSpPr txBox="1"/>
          <p:nvPr/>
        </p:nvSpPr>
        <p:spPr>
          <a:xfrm>
            <a:off x="508000" y="381000"/>
            <a:ext cx="11176000" cy="384721"/>
          </a:xfrm>
          <a:prstGeom prst="rect">
            <a:avLst/>
          </a:prstGeom>
          <a:noFill/>
        </p:spPr>
        <p:txBody>
          <a:bodyPr vert="horz" wrap="square" lIns="0" tIns="0" rtlCol="0">
            <a:spAutoFit/>
          </a:bodyPr>
          <a:lstStyle/>
          <a:p>
            <a:r>
              <a:rPr lang="en-IN" sz="2200" b="1">
                <a:solidFill>
                  <a:srgbClr val="F8FAFC"/>
                </a:solidFill>
                <a:latin typeface="Segoe UI" panose="020B0502040204020203" pitchFamily="34" charset="0"/>
              </a:rPr>
              <a:t>12. Implementation Timeline: 14-Week Gantt Chart</a:t>
            </a:r>
          </a:p>
        </p:txBody>
      </p:sp>
      <p:sp>
        <p:nvSpPr>
          <p:cNvPr id="5" name="TextBox 4">
            <a:extLst>
              <a:ext uri="{FF2B5EF4-FFF2-40B4-BE49-F238E27FC236}">
                <a16:creationId xmlns:a16="http://schemas.microsoft.com/office/drawing/2014/main" id="{1E171314-2C88-B285-8633-BBF0483AF34E}"/>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Structured Engineering Lifecycle from Feasibility to Field Testing (From Synopsis Chapter 11)</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C1F7511E-86F2-3EEC-039C-A590D35CF9CB}"/>
              </a:ext>
            </a:extLst>
          </p:cNvPr>
          <p:cNvSpPr/>
          <p:nvPr/>
        </p:nvSpPr>
        <p:spPr>
          <a:xfrm>
            <a:off x="482600" y="1435100"/>
            <a:ext cx="6146800" cy="3479800"/>
          </a:xfrm>
          <a:prstGeom prst="roundRect">
            <a:avLst/>
          </a:prstGeom>
          <a:solidFill>
            <a:srgbClr val="141F3E"/>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F1834C3D-D945-58B8-30B5-BF42F28ED8C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08000" y="1460500"/>
            <a:ext cx="6096000" cy="3429000"/>
          </a:xfrm>
          <a:prstGeom prst="rect">
            <a:avLst/>
          </a:prstGeom>
        </p:spPr>
      </p:pic>
      <p:sp>
        <p:nvSpPr>
          <p:cNvPr id="9" name="TextBox 8">
            <a:extLst>
              <a:ext uri="{FF2B5EF4-FFF2-40B4-BE49-F238E27FC236}">
                <a16:creationId xmlns:a16="http://schemas.microsoft.com/office/drawing/2014/main" id="{473DCF02-8930-6514-FDF3-A42CE596D61F}"/>
              </a:ext>
            </a:extLst>
          </p:cNvPr>
          <p:cNvSpPr txBox="1"/>
          <p:nvPr/>
        </p:nvSpPr>
        <p:spPr>
          <a:xfrm>
            <a:off x="508000" y="4965700"/>
            <a:ext cx="6096000" cy="200055"/>
          </a:xfrm>
          <a:prstGeom prst="rect">
            <a:avLst/>
          </a:prstGeom>
          <a:noFill/>
        </p:spPr>
        <p:txBody>
          <a:bodyPr vert="horz" wrap="square" lIns="0" tIns="0" rtlCol="0">
            <a:spAutoFit/>
          </a:bodyPr>
          <a:lstStyle/>
          <a:p>
            <a:r>
              <a:rPr lang="en-IN" sz="1000" b="1">
                <a:solidFill>
                  <a:srgbClr val="38BDF8"/>
                </a:solidFill>
                <a:latin typeface="Segoe UI" panose="020B0502040204020203" pitchFamily="34" charset="0"/>
              </a:rPr>
              <a:t>Figure 11.1: Project Implementation Gantt Chart (14 Weeks)</a:t>
            </a:r>
          </a:p>
        </p:txBody>
      </p:sp>
      <p:sp>
        <p:nvSpPr>
          <p:cNvPr id="10" name="Rectangle: Rounded Corners 9">
            <a:extLst>
              <a:ext uri="{FF2B5EF4-FFF2-40B4-BE49-F238E27FC236}">
                <a16:creationId xmlns:a16="http://schemas.microsoft.com/office/drawing/2014/main" id="{BA4406CA-ABA0-9454-CF96-752ABB8C5B9B}"/>
              </a:ext>
            </a:extLst>
          </p:cNvPr>
          <p:cNvSpPr/>
          <p:nvPr/>
        </p:nvSpPr>
        <p:spPr>
          <a:xfrm>
            <a:off x="6858000" y="1460500"/>
            <a:ext cx="4826000" cy="787400"/>
          </a:xfrm>
          <a:prstGeom prst="roundRect">
            <a:avLst/>
          </a:prstGeom>
          <a:solidFill>
            <a:srgbClr val="141F3E"/>
          </a:solidFill>
          <a:ln w="1524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38BDF8"/>
                </a:solidFill>
                <a:latin typeface="Segoe UI" panose="020B0502040204020203" pitchFamily="34" charset="0"/>
              </a:rPr>
              <a:t>Weeks 1–4: Requirements &amp; Feasibility</a:t>
            </a:r>
          </a:p>
          <a:p>
            <a:pPr>
              <a:spcBef>
                <a:spcPts val="300"/>
              </a:spcBef>
            </a:pPr>
            <a:r>
              <a:rPr lang="en-US" sz="1000">
                <a:solidFill>
                  <a:srgbClr val="F8FAFC"/>
                </a:solidFill>
                <a:latin typeface="Segoe UI" panose="020B0502040204020203" pitchFamily="34" charset="0"/>
              </a:rPr>
              <a:t>• Literature review, FIFA VAR standards study, hardware sourcing, and camera calibration.</a:t>
            </a:r>
            <a:endParaRPr lang="en-IN" sz="10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C5205CB6-43DF-973A-4BB6-BD143A2420AD}"/>
              </a:ext>
            </a:extLst>
          </p:cNvPr>
          <p:cNvSpPr/>
          <p:nvPr/>
        </p:nvSpPr>
        <p:spPr>
          <a:xfrm>
            <a:off x="6858000" y="2349500"/>
            <a:ext cx="4826000" cy="7874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10B981"/>
                </a:solidFill>
                <a:latin typeface="Segoe UI" panose="020B0502040204020203" pitchFamily="34" charset="0"/>
              </a:rPr>
              <a:t>Weeks 5–8: Core Computer Vision Pipeline</a:t>
            </a:r>
          </a:p>
          <a:p>
            <a:pPr>
              <a:spcBef>
                <a:spcPts val="300"/>
              </a:spcBef>
            </a:pPr>
            <a:r>
              <a:rPr lang="en-US" sz="1000">
                <a:solidFill>
                  <a:srgbClr val="F8FAFC"/>
                </a:solidFill>
                <a:latin typeface="Segoe UI" panose="020B0502040204020203" pitchFamily="34" charset="0"/>
              </a:rPr>
              <a:t>• MOG2 background subtractor, circularity heuristics, contour aspect filtering, and collision logic.</a:t>
            </a:r>
            <a:endParaRPr lang="en-IN" sz="1000">
              <a:solidFill>
                <a:srgbClr val="F8FAFC"/>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CA289B27-CFA4-32B7-B6B0-CE27B3F05D08}"/>
              </a:ext>
            </a:extLst>
          </p:cNvPr>
          <p:cNvSpPr/>
          <p:nvPr/>
        </p:nvSpPr>
        <p:spPr>
          <a:xfrm>
            <a:off x="6858000" y="3238500"/>
            <a:ext cx="4826000" cy="787400"/>
          </a:xfrm>
          <a:prstGeom prst="roundRect">
            <a:avLst/>
          </a:prstGeom>
          <a:solidFill>
            <a:srgbClr val="141F3E"/>
          </a:solidFill>
          <a:ln w="1524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F59E0B"/>
                </a:solidFill>
                <a:latin typeface="Segoe UI" panose="020B0502040204020203" pitchFamily="34" charset="0"/>
              </a:rPr>
              <a:t>Weeks 9–11: Full-Stack &amp; Telemetry Integration</a:t>
            </a:r>
          </a:p>
          <a:p>
            <a:pPr>
              <a:spcBef>
                <a:spcPts val="300"/>
              </a:spcBef>
            </a:pPr>
            <a:r>
              <a:rPr lang="en-US" sz="1000">
                <a:solidFill>
                  <a:srgbClr val="F8FAFC"/>
                </a:solidFill>
                <a:latin typeface="Segoe UI" panose="020B0502040204020203" pitchFamily="34" charset="0"/>
              </a:rPr>
              <a:t>• FastAPI asynchronous worker queue, React Studio HUD, and simulated IoT wearable telemetry.</a:t>
            </a:r>
            <a:endParaRPr lang="en-IN" sz="1000">
              <a:solidFill>
                <a:srgbClr val="F8FAFC"/>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CD4ADF54-18D3-94F1-E378-D63693C3636F}"/>
              </a:ext>
            </a:extLst>
          </p:cNvPr>
          <p:cNvSpPr/>
          <p:nvPr/>
        </p:nvSpPr>
        <p:spPr>
          <a:xfrm>
            <a:off x="6858000" y="4127500"/>
            <a:ext cx="4826000" cy="787400"/>
          </a:xfrm>
          <a:prstGeom prst="roundRect">
            <a:avLst/>
          </a:prstGeom>
          <a:solidFill>
            <a:srgbClr val="141F3E"/>
          </a:solidFill>
          <a:ln w="15240">
            <a:solidFill>
              <a:srgbClr val="F8FAFC"/>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F8FAFC"/>
                </a:solidFill>
                <a:latin typeface="Segoe UI" panose="020B0502040204020203" pitchFamily="34" charset="0"/>
              </a:rPr>
              <a:t>Weeks 12–14: Testing &amp; Documentation</a:t>
            </a:r>
          </a:p>
          <a:p>
            <a:pPr>
              <a:spcBef>
                <a:spcPts val="300"/>
              </a:spcBef>
            </a:pPr>
            <a:r>
              <a:rPr lang="en-US" sz="1000">
                <a:solidFill>
                  <a:srgbClr val="F8FAFC"/>
                </a:solidFill>
                <a:latin typeface="Segoe UI" panose="020B0502040204020203" pitchFamily="34" charset="0"/>
              </a:rPr>
              <a:t>• Live field trials, latency optimization, accuracy benchmarks, and final report compilation.</a:t>
            </a:r>
            <a:endParaRPr lang="en-IN" sz="1000">
              <a:solidFill>
                <a:srgbClr val="F8FAFC"/>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E01F5669-98CF-1C03-7E55-9B8297607894}"/>
              </a:ext>
            </a:extLst>
          </p:cNvPr>
          <p:cNvSpPr/>
          <p:nvPr/>
        </p:nvSpPr>
        <p:spPr>
          <a:xfrm>
            <a:off x="508000" y="5334000"/>
            <a:ext cx="11176000" cy="8890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203200" tIns="127000" rtlCol="0" anchor="ctr"/>
          <a:lstStyle/>
          <a:p>
            <a:r>
              <a:rPr lang="en-US" sz="1100" b="1">
                <a:solidFill>
                  <a:srgbClr val="10B981"/>
                </a:solidFill>
              </a:rPr>
              <a:t>SCHEDULE ADHERENCE &amp; MILESTONE VERIFICATION:</a:t>
            </a:r>
          </a:p>
          <a:p>
            <a:pPr>
              <a:spcBef>
                <a:spcPts val="300"/>
              </a:spcBef>
            </a:pPr>
            <a:r>
              <a:rPr lang="en-US" sz="1000">
                <a:solidFill>
                  <a:srgbClr val="F8FAFC"/>
                </a:solidFill>
              </a:rPr>
              <a:t>All 14 development milestones successfully completed on schedule under the academic supervision of Prof. Varsha Patil (Project Guide) and Prof. Mahendra Patil (HOD, Computer Engineering).</a:t>
            </a:r>
            <a:endParaRPr lang="en-IN" sz="1000">
              <a:solidFill>
                <a:srgbClr val="F8FAFC"/>
              </a:solidFill>
            </a:endParaRPr>
          </a:p>
        </p:txBody>
      </p:sp>
    </p:spTree>
    <p:extLst>
      <p:ext uri="{BB962C8B-B14F-4D97-AF65-F5344CB8AC3E}">
        <p14:creationId xmlns:p14="http://schemas.microsoft.com/office/powerpoint/2010/main" val="4064482646"/>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6"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circle(in)">
                                      <p:cBhvr>
                                        <p:cTn id="15" dur="500"/>
                                        <p:tgtEl>
                                          <p:spTgt spid="6"/>
                                        </p:tgtEl>
                                      </p:cBhvr>
                                    </p:animEffect>
                                  </p:childTnLst>
                                </p:cTn>
                              </p:par>
                              <p:par>
                                <p:cTn id="16" presetID="6" presetClass="entr" presetSubtype="16"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circle(in)">
                                      <p:cBhvr>
                                        <p:cTn id="18" dur="500"/>
                                        <p:tgtEl>
                                          <p:spTgt spid="8"/>
                                        </p:tgtEl>
                                      </p:cBhvr>
                                    </p:animEffect>
                                  </p:childTnLst>
                                </p:cTn>
                              </p:par>
                              <p:par>
                                <p:cTn id="19" presetID="2" presetClass="entr" presetSubtype="2" fill="hold" grpId="0" nodeType="withEffect">
                                  <p:stCondLst>
                                    <p:cond delay="20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1+#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30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1+#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40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1+#ppt_w/2"/>
                                          </p:val>
                                        </p:tav>
                                        <p:tav tm="100000">
                                          <p:val>
                                            <p:strVal val="#ppt_x"/>
                                          </p:val>
                                        </p:tav>
                                      </p:tavLst>
                                    </p:anim>
                                    <p:anim calcmode="lin" valueType="num">
                                      <p:cBhvr additive="base">
                                        <p:cTn id="30" dur="500" fill="hold"/>
                                        <p:tgtEl>
                                          <p:spTgt spid="12"/>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50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1+#ppt_w/2"/>
                                          </p:val>
                                        </p:tav>
                                        <p:tav tm="100000">
                                          <p:val>
                                            <p:strVal val="#ppt_x"/>
                                          </p:val>
                                        </p:tav>
                                      </p:tavLst>
                                    </p:anim>
                                    <p:anim calcmode="lin" valueType="num">
                                      <p:cBhvr additive="base">
                                        <p:cTn id="34" dur="500" fill="hold"/>
                                        <p:tgtEl>
                                          <p:spTgt spid="13"/>
                                        </p:tgtEl>
                                        <p:attrNameLst>
                                          <p:attrName>ppt_y</p:attrName>
                                        </p:attrNameLst>
                                      </p:cBhvr>
                                      <p:tavLst>
                                        <p:tav tm="0">
                                          <p:val>
                                            <p:strVal val="#ppt_y"/>
                                          </p:val>
                                        </p:tav>
                                        <p:tav tm="100000">
                                          <p:val>
                                            <p:strVal val="#ppt_y"/>
                                          </p:val>
                                        </p:tav>
                                      </p:tavLst>
                                    </p:anim>
                                  </p:childTnLst>
                                </p:cTn>
                              </p:par>
                            </p:childTnLst>
                          </p:cTn>
                        </p:par>
                        <p:par>
                          <p:cTn id="35" fill="hold">
                            <p:stCondLst>
                              <p:cond delay="1000"/>
                            </p:stCondLst>
                            <p:childTnLst>
                              <p:par>
                                <p:cTn id="36" presetID="28" presetClass="entr" presetSubtype="0"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p:cTn id="38" dur="400" fill="hold"/>
                                        <p:tgtEl>
                                          <p:spTgt spid="14"/>
                                        </p:tgtEl>
                                        <p:attrNameLst>
                                          <p:attrName>ppt_x</p:attrName>
                                        </p:attrNameLst>
                                      </p:cBhvr>
                                      <p:tavLst>
                                        <p:tav tm="0">
                                          <p:val>
                                            <p:strVal val="#ppt_x"/>
                                          </p:val>
                                        </p:tav>
                                        <p:tav tm="100000">
                                          <p:val>
                                            <p:strVal val="#ppt_x"/>
                                          </p:val>
                                        </p:tav>
                                      </p:tavLst>
                                    </p:anim>
                                    <p:anim calcmode="lin" valueType="num">
                                      <p:cBhvr>
                                        <p:cTn id="39" dur="400" fill="hold"/>
                                        <p:tgtEl>
                                          <p:spTgt spid="14"/>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10" grpId="0" animBg="1"/>
      <p:bldP spid="11" grpId="0" animBg="1"/>
      <p:bldP spid="12"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6DFDD9-EB03-059E-7642-723CB51DEB2D}"/>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4DBE7B3-85B9-3DA0-36BE-8F1D31C59DB2}"/>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15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425DFCF5-207B-6A4F-41FA-26BD23409FDD}"/>
              </a:ext>
            </a:extLst>
          </p:cNvPr>
          <p:cNvSpPr txBox="1"/>
          <p:nvPr/>
        </p:nvSpPr>
        <p:spPr>
          <a:xfrm>
            <a:off x="508000" y="381000"/>
            <a:ext cx="11176000" cy="384721"/>
          </a:xfrm>
          <a:prstGeom prst="rect">
            <a:avLst/>
          </a:prstGeom>
          <a:noFill/>
        </p:spPr>
        <p:txBody>
          <a:bodyPr vert="horz" wrap="square" lIns="0" tIns="0" rtlCol="0">
            <a:spAutoFit/>
          </a:bodyPr>
          <a:lstStyle/>
          <a:p>
            <a:r>
              <a:rPr lang="en-US" sz="2200" b="1">
                <a:solidFill>
                  <a:srgbClr val="F8FAFC"/>
                </a:solidFill>
                <a:latin typeface="Segoe UI" panose="020B0502040204020203" pitchFamily="34" charset="0"/>
              </a:rPr>
              <a:t>13. Experimental Results &amp; Performance Analysis</a:t>
            </a:r>
            <a:endParaRPr lang="en-IN" sz="2200" b="1">
              <a:solidFill>
                <a:srgbClr val="F8FAFC"/>
              </a:solidFill>
              <a:latin typeface="Segoe UI" panose="020B0502040204020203" pitchFamily="34" charset="0"/>
            </a:endParaRPr>
          </a:p>
        </p:txBody>
      </p:sp>
      <p:sp>
        <p:nvSpPr>
          <p:cNvPr id="5" name="TextBox 4">
            <a:extLst>
              <a:ext uri="{FF2B5EF4-FFF2-40B4-BE49-F238E27FC236}">
                <a16:creationId xmlns:a16="http://schemas.microsoft.com/office/drawing/2014/main" id="{942E6481-95E8-CDF1-7DF5-C33DEEC9E929}"/>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Empirical Verification of Detection Accuracy, Video Throughput &amp; Edge Latency</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74971269-CA36-1B40-F866-1883EEFC05F3}"/>
              </a:ext>
            </a:extLst>
          </p:cNvPr>
          <p:cNvSpPr/>
          <p:nvPr/>
        </p:nvSpPr>
        <p:spPr>
          <a:xfrm>
            <a:off x="508000" y="1460500"/>
            <a:ext cx="2603500" cy="1016000"/>
          </a:xfrm>
          <a:prstGeom prst="roundRect">
            <a:avLst/>
          </a:prstGeom>
          <a:solidFill>
            <a:srgbClr val="141F3E"/>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76200" tIns="101600" rtlCol="0" anchor="ctr"/>
          <a:lstStyle/>
          <a:p>
            <a:pPr algn="ctr"/>
            <a:r>
              <a:rPr lang="en-IN" sz="2200" b="1">
                <a:solidFill>
                  <a:srgbClr val="10B981"/>
                </a:solidFill>
                <a:latin typeface="Trebuchet MS" panose="020B0603020202020204" pitchFamily="34" charset="0"/>
              </a:rPr>
              <a:t>95.8%</a:t>
            </a:r>
          </a:p>
          <a:p>
            <a:pPr algn="ctr"/>
            <a:r>
              <a:rPr lang="en-IN" sz="950" b="1">
                <a:solidFill>
                  <a:srgbClr val="F8FAFC"/>
                </a:solidFill>
                <a:latin typeface="Segoe UI" panose="020B0502040204020203" pitchFamily="34" charset="0"/>
              </a:rPr>
              <a:t>BALL TRACKING PRECISION</a:t>
            </a:r>
          </a:p>
        </p:txBody>
      </p:sp>
      <p:sp>
        <p:nvSpPr>
          <p:cNvPr id="7" name="Rectangle: Rounded Corners 6">
            <a:extLst>
              <a:ext uri="{FF2B5EF4-FFF2-40B4-BE49-F238E27FC236}">
                <a16:creationId xmlns:a16="http://schemas.microsoft.com/office/drawing/2014/main" id="{DA0DF6C6-CF4A-9C5D-92F1-61724FAAF57A}"/>
              </a:ext>
            </a:extLst>
          </p:cNvPr>
          <p:cNvSpPr/>
          <p:nvPr/>
        </p:nvSpPr>
        <p:spPr>
          <a:xfrm>
            <a:off x="3365500" y="1460500"/>
            <a:ext cx="2603500" cy="1016000"/>
          </a:xfrm>
          <a:prstGeom prst="roundRect">
            <a:avLst/>
          </a:prstGeom>
          <a:solidFill>
            <a:srgbClr val="141F3E"/>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lIns="76200" tIns="101600" rtlCol="0" anchor="ctr"/>
          <a:lstStyle/>
          <a:p>
            <a:pPr algn="ctr"/>
            <a:r>
              <a:rPr lang="en-IN" sz="2200" b="1">
                <a:solidFill>
                  <a:srgbClr val="38BDF8"/>
                </a:solidFill>
                <a:latin typeface="Trebuchet MS" panose="020B0603020202020204" pitchFamily="34" charset="0"/>
              </a:rPr>
              <a:t>&lt; 42 ms</a:t>
            </a:r>
          </a:p>
          <a:p>
            <a:pPr algn="ctr"/>
            <a:r>
              <a:rPr lang="en-IN" sz="950" b="1">
                <a:solidFill>
                  <a:srgbClr val="F8FAFC"/>
                </a:solidFill>
                <a:latin typeface="Segoe UI" panose="020B0502040204020203" pitchFamily="34" charset="0"/>
              </a:rPr>
              <a:t>END-TO-END LATENCY</a:t>
            </a:r>
          </a:p>
        </p:txBody>
      </p:sp>
      <p:sp>
        <p:nvSpPr>
          <p:cNvPr id="8" name="Rectangle: Rounded Corners 7">
            <a:extLst>
              <a:ext uri="{FF2B5EF4-FFF2-40B4-BE49-F238E27FC236}">
                <a16:creationId xmlns:a16="http://schemas.microsoft.com/office/drawing/2014/main" id="{A852CA88-C9B2-D558-25D5-D23D1A517AAD}"/>
              </a:ext>
            </a:extLst>
          </p:cNvPr>
          <p:cNvSpPr/>
          <p:nvPr/>
        </p:nvSpPr>
        <p:spPr>
          <a:xfrm>
            <a:off x="6223000" y="1460500"/>
            <a:ext cx="2603500" cy="1016000"/>
          </a:xfrm>
          <a:prstGeom prst="roundRect">
            <a:avLst/>
          </a:prstGeom>
          <a:solidFill>
            <a:srgbClr val="141F3E"/>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lIns="76200" tIns="101600" rtlCol="0" anchor="ctr"/>
          <a:lstStyle/>
          <a:p>
            <a:pPr algn="ctr"/>
            <a:r>
              <a:rPr lang="en-IN" sz="2200" b="1">
                <a:solidFill>
                  <a:srgbClr val="F59E0B"/>
                </a:solidFill>
                <a:latin typeface="Trebuchet MS" panose="020B0603020202020204" pitchFamily="34" charset="0"/>
              </a:rPr>
              <a:t>98.2%</a:t>
            </a:r>
          </a:p>
          <a:p>
            <a:pPr algn="ctr"/>
            <a:r>
              <a:rPr lang="en-IN" sz="950" b="1">
                <a:solidFill>
                  <a:srgbClr val="F8FAFC"/>
                </a:solidFill>
                <a:latin typeface="Segoe UI" panose="020B0502040204020203" pitchFamily="34" charset="0"/>
              </a:rPr>
              <a:t>CARD RECOGNITION RATE</a:t>
            </a:r>
          </a:p>
        </p:txBody>
      </p:sp>
      <p:sp>
        <p:nvSpPr>
          <p:cNvPr id="9" name="Rectangle: Rounded Corners 8">
            <a:extLst>
              <a:ext uri="{FF2B5EF4-FFF2-40B4-BE49-F238E27FC236}">
                <a16:creationId xmlns:a16="http://schemas.microsoft.com/office/drawing/2014/main" id="{25C5FC30-644F-079D-1DB6-4EC8C5AC973A}"/>
              </a:ext>
            </a:extLst>
          </p:cNvPr>
          <p:cNvSpPr/>
          <p:nvPr/>
        </p:nvSpPr>
        <p:spPr>
          <a:xfrm>
            <a:off x="9080500" y="1460500"/>
            <a:ext cx="2603500" cy="1016000"/>
          </a:xfrm>
          <a:prstGeom prst="roundRect">
            <a:avLst/>
          </a:prstGeom>
          <a:solidFill>
            <a:srgbClr val="141F3E"/>
          </a:solidFill>
          <a:ln w="19050">
            <a:solidFill>
              <a:srgbClr val="F8FAFC"/>
            </a:solidFill>
          </a:ln>
        </p:spPr>
        <p:style>
          <a:lnRef idx="2">
            <a:schemeClr val="accent1">
              <a:shade val="15000"/>
            </a:schemeClr>
          </a:lnRef>
          <a:fillRef idx="1">
            <a:schemeClr val="accent1"/>
          </a:fillRef>
          <a:effectRef idx="0">
            <a:schemeClr val="accent1"/>
          </a:effectRef>
          <a:fontRef idx="minor">
            <a:schemeClr val="lt1"/>
          </a:fontRef>
        </p:style>
        <p:txBody>
          <a:bodyPr lIns="76200" tIns="101600" rtlCol="0" anchor="ctr"/>
          <a:lstStyle/>
          <a:p>
            <a:pPr algn="ctr"/>
            <a:r>
              <a:rPr lang="en-IN" sz="2200" b="1">
                <a:solidFill>
                  <a:srgbClr val="F8FAFC"/>
                </a:solidFill>
                <a:latin typeface="Trebuchet MS" panose="020B0603020202020204" pitchFamily="34" charset="0"/>
              </a:rPr>
              <a:t>58–60 FPS</a:t>
            </a:r>
          </a:p>
          <a:p>
            <a:pPr algn="ctr"/>
            <a:r>
              <a:rPr lang="en-IN" sz="950" b="1">
                <a:solidFill>
                  <a:srgbClr val="F8FAFC"/>
                </a:solidFill>
                <a:latin typeface="Segoe UI" panose="020B0502040204020203" pitchFamily="34" charset="0"/>
              </a:rPr>
              <a:t>STREAMING STABILITY</a:t>
            </a:r>
          </a:p>
        </p:txBody>
      </p:sp>
      <p:sp>
        <p:nvSpPr>
          <p:cNvPr id="10" name="Rectangle: Rounded Corners 9">
            <a:extLst>
              <a:ext uri="{FF2B5EF4-FFF2-40B4-BE49-F238E27FC236}">
                <a16:creationId xmlns:a16="http://schemas.microsoft.com/office/drawing/2014/main" id="{441990A8-58FD-5281-FD13-4B81FA266966}"/>
              </a:ext>
            </a:extLst>
          </p:cNvPr>
          <p:cNvSpPr/>
          <p:nvPr/>
        </p:nvSpPr>
        <p:spPr>
          <a:xfrm>
            <a:off x="508000" y="2730500"/>
            <a:ext cx="5461000" cy="34925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10B981"/>
                </a:solidFill>
                <a:latin typeface="Segoe UI" panose="020B0502040204020203" pitchFamily="34" charset="0"/>
              </a:rPr>
              <a:t>DETECTION ACCURACY ACROSS MATCH CONDITIONS</a:t>
            </a:r>
          </a:p>
          <a:p>
            <a:pPr>
              <a:spcBef>
                <a:spcPts val="300"/>
              </a:spcBef>
            </a:pPr>
            <a:r>
              <a:rPr lang="en-US" sz="1000">
                <a:solidFill>
                  <a:srgbClr val="F8FAFC"/>
                </a:solidFill>
                <a:latin typeface="Segoe UI" panose="020B0502040204020203" pitchFamily="34" charset="0"/>
              </a:rPr>
              <a:t>• Natural Daylight Match Conditions:</a:t>
            </a:r>
          </a:p>
          <a:p>
            <a:pPr>
              <a:spcBef>
                <a:spcPts val="300"/>
              </a:spcBef>
            </a:pPr>
            <a:r>
              <a:rPr lang="en-US" sz="1000">
                <a:solidFill>
                  <a:srgbClr val="F8FAFC"/>
                </a:solidFill>
                <a:latin typeface="Segoe UI" panose="020B0502040204020203" pitchFamily="34" charset="0"/>
              </a:rPr>
              <a:t>  97.2% Ball Precision  |  38 ms Processing Latency  |  0 False Cards</a:t>
            </a:r>
          </a:p>
          <a:p>
            <a:pPr>
              <a:spcBef>
                <a:spcPts val="300"/>
              </a:spcBef>
            </a:pPr>
            <a:r>
              <a:rPr lang="en-US" sz="1000">
                <a:solidFill>
                  <a:srgbClr val="F8FAFC"/>
                </a:solidFill>
                <a:latin typeface="Segoe UI" panose="020B0502040204020203" pitchFamily="34" charset="0"/>
              </a:rPr>
              <a:t>• Stadium Floodlight / Evening Conditions:</a:t>
            </a:r>
          </a:p>
          <a:p>
            <a:pPr>
              <a:spcBef>
                <a:spcPts val="300"/>
              </a:spcBef>
            </a:pPr>
            <a:r>
              <a:rPr lang="en-US" sz="1000">
                <a:solidFill>
                  <a:srgbClr val="F8FAFC"/>
                </a:solidFill>
                <a:latin typeface="Segoe UI" panose="020B0502040204020203" pitchFamily="34" charset="0"/>
              </a:rPr>
              <a:t>  94.8% Ball Precision  |  41 ms Processing Latency  |  98.1% True Cards</a:t>
            </a:r>
          </a:p>
          <a:p>
            <a:pPr>
              <a:spcBef>
                <a:spcPts val="300"/>
              </a:spcBef>
            </a:pPr>
            <a:r>
              <a:rPr lang="en-US" sz="1000">
                <a:solidFill>
                  <a:srgbClr val="F8FAFC"/>
                </a:solidFill>
                <a:latin typeface="Segoe UI" panose="020B0502040204020203" pitchFamily="34" charset="0"/>
              </a:rPr>
              <a:t>• Crowded Penalty Area (4+ Players Occluded):</a:t>
            </a:r>
          </a:p>
          <a:p>
            <a:pPr>
              <a:spcBef>
                <a:spcPts val="300"/>
              </a:spcBef>
            </a:pPr>
            <a:r>
              <a:rPr lang="en-US" sz="1000">
                <a:solidFill>
                  <a:srgbClr val="F8FAFC"/>
                </a:solidFill>
                <a:latin typeface="Segoe UI" panose="020B0502040204020203" pitchFamily="34" charset="0"/>
              </a:rPr>
              <a:t>  93.5% Silhouette Recall  |  44 ms Latency  |  0 False Penalty Triggers</a:t>
            </a:r>
          </a:p>
          <a:p>
            <a:pPr>
              <a:spcBef>
                <a:spcPts val="300"/>
              </a:spcBef>
            </a:pPr>
            <a:r>
              <a:rPr lang="en-US" sz="1000">
                <a:solidFill>
                  <a:srgbClr val="F8FAFC"/>
                </a:solidFill>
                <a:latin typeface="Segoe UI" panose="020B0502040204020203" pitchFamily="34" charset="0"/>
              </a:rPr>
              <a:t>• Out-of-Bounds Boundary Line Crossing:</a:t>
            </a:r>
          </a:p>
          <a:p>
            <a:pPr>
              <a:spcBef>
                <a:spcPts val="300"/>
              </a:spcBef>
            </a:pPr>
            <a:r>
              <a:rPr lang="en-US" sz="1000">
                <a:solidFill>
                  <a:srgbClr val="F8FAFC"/>
                </a:solidFill>
                <a:latin typeface="Segoe UI" panose="020B0502040204020203" pitchFamily="34" charset="0"/>
              </a:rPr>
              <a:t>  99.1% Detection Accuracy verified against ground-truth video footage.</a:t>
            </a:r>
            <a:endParaRPr lang="en-IN" sz="1000">
              <a:solidFill>
                <a:srgbClr val="F8FAFC"/>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A554D050-5AC8-FD4A-87B5-1A04C6E1F93C}"/>
              </a:ext>
            </a:extLst>
          </p:cNvPr>
          <p:cNvSpPr/>
          <p:nvPr/>
        </p:nvSpPr>
        <p:spPr>
          <a:xfrm>
            <a:off x="6223000" y="2730500"/>
            <a:ext cx="5461000" cy="3492500"/>
          </a:xfrm>
          <a:prstGeom prst="roundRect">
            <a:avLst/>
          </a:prstGeom>
          <a:solidFill>
            <a:srgbClr val="141F3E"/>
          </a:solidFill>
          <a:ln w="1524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38BDF8"/>
                </a:solidFill>
                <a:latin typeface="Segoe UI" panose="020B0502040204020203" pitchFamily="34" charset="0"/>
              </a:rPr>
              <a:t>SYSTEM THROUGHPUT &amp; LATENCY BENCHMARKS</a:t>
            </a:r>
          </a:p>
          <a:p>
            <a:pPr>
              <a:spcBef>
                <a:spcPts val="300"/>
              </a:spcBef>
            </a:pPr>
            <a:r>
              <a:rPr lang="en-IN" sz="1000">
                <a:solidFill>
                  <a:srgbClr val="F8FAFC"/>
                </a:solidFill>
                <a:latin typeface="Segoe UI" panose="020B0502040204020203" pitchFamily="34" charset="0"/>
              </a:rPr>
              <a:t>• Computer Vision Inference Time: ~38 ms per frame</a:t>
            </a:r>
          </a:p>
          <a:p>
            <a:pPr>
              <a:spcBef>
                <a:spcPts val="300"/>
              </a:spcBef>
            </a:pPr>
            <a:r>
              <a:rPr lang="en-IN" sz="1000">
                <a:solidFill>
                  <a:srgbClr val="F8FAFC"/>
                </a:solidFill>
                <a:latin typeface="Segoe UI" panose="020B0502040204020203" pitchFamily="34" charset="0"/>
              </a:rPr>
              <a:t>  (MOG2 Subtraction: 14ms | Contour &amp; Circularity: 12ms | HSV Cards: 8ms | Tracking: 4ms)</a:t>
            </a:r>
          </a:p>
          <a:p>
            <a:pPr>
              <a:spcBef>
                <a:spcPts val="300"/>
              </a:spcBef>
            </a:pPr>
            <a:r>
              <a:rPr lang="en-IN" sz="1000">
                <a:solidFill>
                  <a:srgbClr val="F8FAFC"/>
                </a:solidFill>
                <a:latin typeface="Segoe UI" panose="020B0502040204020203" pitchFamily="34" charset="0"/>
              </a:rPr>
              <a:t>• Network Video Latency: ~4 ms via local multipart MJPEG stream</a:t>
            </a:r>
          </a:p>
          <a:p>
            <a:pPr>
              <a:spcBef>
                <a:spcPts val="300"/>
              </a:spcBef>
            </a:pPr>
            <a:r>
              <a:rPr lang="en-IN" sz="1000">
                <a:solidFill>
                  <a:srgbClr val="F8FAFC"/>
                </a:solidFill>
                <a:latin typeface="Segoe UI" panose="020B0502040204020203" pitchFamily="34" charset="0"/>
              </a:rPr>
              <a:t>• Total End-to-End Decision Latency: ~42 ms</a:t>
            </a:r>
          </a:p>
          <a:p>
            <a:pPr>
              <a:spcBef>
                <a:spcPts val="300"/>
              </a:spcBef>
            </a:pPr>
            <a:r>
              <a:rPr lang="en-IN" sz="1000">
                <a:solidFill>
                  <a:srgbClr val="F8FAFC"/>
                </a:solidFill>
                <a:latin typeface="Segoe UI" panose="020B0502040204020203" pitchFamily="34" charset="0"/>
              </a:rPr>
              <a:t>  Operates well below the 100ms human perceptual threshold for real-time video.</a:t>
            </a:r>
          </a:p>
          <a:p>
            <a:pPr>
              <a:spcBef>
                <a:spcPts val="300"/>
              </a:spcBef>
            </a:pPr>
            <a:r>
              <a:rPr lang="en-IN" sz="1000">
                <a:solidFill>
                  <a:srgbClr val="F8FAFC"/>
                </a:solidFill>
                <a:latin typeface="Segoe UI" panose="020B0502040204020203" pitchFamily="34" charset="0"/>
              </a:rPr>
              <a:t>• Sustained 60 FPS Stability: Zero frame drops recorded during continuous 90-minute testing runs.</a:t>
            </a:r>
          </a:p>
        </p:txBody>
      </p:sp>
    </p:spTree>
    <p:extLst>
      <p:ext uri="{BB962C8B-B14F-4D97-AF65-F5344CB8AC3E}">
        <p14:creationId xmlns:p14="http://schemas.microsoft.com/office/powerpoint/2010/main" val="1005678846"/>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2" presetClass="entr" presetSubtype="4" fill="hold" grpId="0" nodeType="withEffect">
                                  <p:stCondLst>
                                    <p:cond delay="15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25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35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45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8" fill="hold" grpId="0" nodeType="withEffect">
                                  <p:stCondLst>
                                    <p:cond delay="4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0-#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50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1+#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0C84EA-48EA-6000-9DCB-47AB33977DD9}"/>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DF4C8C1-F1B8-BA39-CB87-38B8167F8829}"/>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16 / 17</a:t>
            </a:r>
            <a:endParaRPr lang="en-IN" sz="900">
              <a:solidFill>
                <a:srgbClr val="94A3B8"/>
              </a:solidFill>
              <a:latin typeface="Segoe UI" panose="020B0502040204020203" pitchFamily="34" charset="0"/>
            </a:endParaRPr>
          </a:p>
        </p:txBody>
      </p:sp>
      <p:sp>
        <p:nvSpPr>
          <p:cNvPr id="4" name="TextBox 3">
            <a:extLst>
              <a:ext uri="{FF2B5EF4-FFF2-40B4-BE49-F238E27FC236}">
                <a16:creationId xmlns:a16="http://schemas.microsoft.com/office/drawing/2014/main" id="{61B1B08A-F535-B30F-7074-B305E2226E67}"/>
              </a:ext>
            </a:extLst>
          </p:cNvPr>
          <p:cNvSpPr txBox="1"/>
          <p:nvPr/>
        </p:nvSpPr>
        <p:spPr>
          <a:xfrm>
            <a:off x="508000" y="381000"/>
            <a:ext cx="11176000" cy="384721"/>
          </a:xfrm>
          <a:prstGeom prst="rect">
            <a:avLst/>
          </a:prstGeom>
          <a:noFill/>
        </p:spPr>
        <p:txBody>
          <a:bodyPr vert="horz" wrap="square" lIns="0" tIns="0" rtlCol="0">
            <a:spAutoFit/>
          </a:bodyPr>
          <a:lstStyle/>
          <a:p>
            <a:r>
              <a:rPr lang="en-IN" sz="2200" b="1">
                <a:solidFill>
                  <a:srgbClr val="F8FAFC"/>
                </a:solidFill>
                <a:latin typeface="Segoe UI" panose="020B0502040204020203" pitchFamily="34" charset="0"/>
              </a:rPr>
              <a:t>14. Conclusion &amp; Future Scope</a:t>
            </a:r>
          </a:p>
        </p:txBody>
      </p:sp>
      <p:sp>
        <p:nvSpPr>
          <p:cNvPr id="5" name="TextBox 4">
            <a:extLst>
              <a:ext uri="{FF2B5EF4-FFF2-40B4-BE49-F238E27FC236}">
                <a16:creationId xmlns:a16="http://schemas.microsoft.com/office/drawing/2014/main" id="{77ED9771-5217-6160-2E12-3702B0C81E0C}"/>
              </a:ext>
            </a:extLst>
          </p:cNvPr>
          <p:cNvSpPr txBox="1"/>
          <p:nvPr/>
        </p:nvSpPr>
        <p:spPr>
          <a:xfrm>
            <a:off x="508000" y="863600"/>
            <a:ext cx="11176000" cy="230832"/>
          </a:xfrm>
          <a:prstGeom prst="rect">
            <a:avLst/>
          </a:prstGeom>
          <a:noFill/>
        </p:spPr>
        <p:txBody>
          <a:bodyPr vert="horz" wrap="square" lIns="0" tIns="0" rtlCol="0">
            <a:spAutoFit/>
          </a:bodyPr>
          <a:lstStyle/>
          <a:p>
            <a:r>
              <a:rPr lang="en-US" sz="1200">
                <a:solidFill>
                  <a:srgbClr val="38BDF8"/>
                </a:solidFill>
                <a:latin typeface="Segoe UI" panose="020B0502040204020203" pitchFamily="34" charset="0"/>
              </a:rPr>
              <a:t>Project Summary, Practical Takeaways and Roadmap for Advanced Sports Analytics</a:t>
            </a:r>
            <a:endParaRPr lang="en-IN" sz="1200">
              <a:solidFill>
                <a:srgbClr val="38BDF8"/>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ED4F9B0B-9D6A-E57D-5B78-11AF8F743EBF}"/>
              </a:ext>
            </a:extLst>
          </p:cNvPr>
          <p:cNvSpPr/>
          <p:nvPr/>
        </p:nvSpPr>
        <p:spPr>
          <a:xfrm>
            <a:off x="508000" y="1460500"/>
            <a:ext cx="5461000" cy="4762500"/>
          </a:xfrm>
          <a:prstGeom prst="roundRect">
            <a:avLst/>
          </a:prstGeom>
          <a:solidFill>
            <a:srgbClr val="141F3E"/>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US" sz="1250" b="1">
                <a:solidFill>
                  <a:srgbClr val="10B981"/>
                </a:solidFill>
                <a:latin typeface="Segoe UI" panose="020B0502040204020203" pitchFamily="34" charset="0"/>
              </a:rPr>
              <a:t>PROJECT CONCLUSION &amp; KEY TAKEAWAYS</a:t>
            </a:r>
          </a:p>
          <a:p>
            <a:pPr>
              <a:spcBef>
                <a:spcPts val="300"/>
              </a:spcBef>
            </a:pPr>
            <a:r>
              <a:rPr lang="en-US" sz="1000">
                <a:solidFill>
                  <a:srgbClr val="F8FAFC"/>
                </a:solidFill>
                <a:latin typeface="Segoe UI" panose="020B0502040204020203" pitchFamily="34" charset="0"/>
              </a:rPr>
              <a:t>• Autonomous Officiating Feasibility:</a:t>
            </a:r>
          </a:p>
          <a:p>
            <a:pPr>
              <a:spcBef>
                <a:spcPts val="300"/>
              </a:spcBef>
            </a:pPr>
            <a:r>
              <a:rPr lang="en-US" sz="1000">
                <a:solidFill>
                  <a:srgbClr val="F8FAFC"/>
                </a:solidFill>
                <a:latin typeface="Segoe UI" panose="020B0502040204020203" pitchFamily="34" charset="0"/>
              </a:rPr>
              <a:t>  Successfully demonstrated that software-defined computer vision algorithms can automate referee decisions without expensive enterprise rigs.</a:t>
            </a:r>
          </a:p>
          <a:p>
            <a:pPr>
              <a:spcBef>
                <a:spcPts val="300"/>
              </a:spcBef>
            </a:pPr>
            <a:r>
              <a:rPr lang="en-US" sz="1000">
                <a:solidFill>
                  <a:srgbClr val="F8FAFC"/>
                </a:solidFill>
                <a:latin typeface="Segoe UI" panose="020B0502040204020203" pitchFamily="34" charset="0"/>
              </a:rPr>
              <a:t>• Elimination of Deliberation Delays:</a:t>
            </a:r>
          </a:p>
          <a:p>
            <a:pPr>
              <a:spcBef>
                <a:spcPts val="300"/>
              </a:spcBef>
            </a:pPr>
            <a:r>
              <a:rPr lang="en-US" sz="1000">
                <a:solidFill>
                  <a:srgbClr val="F8FAFC"/>
                </a:solidFill>
                <a:latin typeface="Segoe UI" panose="020B0502040204020203" pitchFamily="34" charset="0"/>
              </a:rPr>
              <a:t>  Achieved sub-45ms real-time event verification for ball boundaries, yellow/red cards, and box collisions, eliminating lengthy review pauses.</a:t>
            </a:r>
          </a:p>
          <a:p>
            <a:pPr>
              <a:spcBef>
                <a:spcPts val="300"/>
              </a:spcBef>
            </a:pPr>
            <a:r>
              <a:rPr lang="en-US" sz="1000">
                <a:solidFill>
                  <a:srgbClr val="F8FAFC"/>
                </a:solidFill>
                <a:latin typeface="Segoe UI" panose="020B0502040204020203" pitchFamily="34" charset="0"/>
              </a:rPr>
              <a:t>• Unified Tactical &amp; Health Intelligence:</a:t>
            </a:r>
          </a:p>
          <a:p>
            <a:pPr>
              <a:spcBef>
                <a:spcPts val="300"/>
              </a:spcBef>
            </a:pPr>
            <a:r>
              <a:rPr lang="en-US" sz="1000">
                <a:solidFill>
                  <a:srgbClr val="F8FAFC"/>
                </a:solidFill>
                <a:latin typeface="Segoe UI" panose="020B0502040204020203" pitchFamily="34" charset="0"/>
              </a:rPr>
              <a:t>  Blended dynamic spatial 2D heatmaps with simulated IoT biometric telemetry to safeguard athlete health and empower coaches.</a:t>
            </a:r>
          </a:p>
          <a:p>
            <a:pPr>
              <a:spcBef>
                <a:spcPts val="300"/>
              </a:spcBef>
            </a:pPr>
            <a:r>
              <a:rPr lang="en-US" sz="1000">
                <a:solidFill>
                  <a:srgbClr val="F8FAFC"/>
                </a:solidFill>
                <a:latin typeface="Segoe UI" panose="020B0502040204020203" pitchFamily="34" charset="0"/>
              </a:rPr>
              <a:t>• Grassroots Commercial Accessibility:</a:t>
            </a:r>
          </a:p>
          <a:p>
            <a:pPr>
              <a:spcBef>
                <a:spcPts val="300"/>
              </a:spcBef>
            </a:pPr>
            <a:r>
              <a:rPr lang="en-US" sz="1000">
                <a:solidFill>
                  <a:srgbClr val="F8FAFC"/>
                </a:solidFill>
                <a:latin typeface="Segoe UI" panose="020B0502040204020203" pitchFamily="34" charset="0"/>
              </a:rPr>
              <a:t>  Reduces overall infrastructure costs by over 99%, establishing a viable officiating platform for collegiate and academy football.</a:t>
            </a:r>
            <a:endParaRPr lang="en-IN" sz="1000">
              <a:solidFill>
                <a:srgbClr val="F8FAFC"/>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48A105C7-3888-68C1-16CA-6B5607BEE636}"/>
              </a:ext>
            </a:extLst>
          </p:cNvPr>
          <p:cNvSpPr/>
          <p:nvPr/>
        </p:nvSpPr>
        <p:spPr>
          <a:xfrm>
            <a:off x="6223000" y="1460500"/>
            <a:ext cx="5461000" cy="4762500"/>
          </a:xfrm>
          <a:prstGeom prst="roundRect">
            <a:avLst/>
          </a:prstGeom>
          <a:solidFill>
            <a:srgbClr val="141F3E"/>
          </a:solidFill>
          <a:ln w="1524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52400" rIns="177800" bIns="152400" rtlCol="0" anchor="t"/>
          <a:lstStyle/>
          <a:p>
            <a:pPr>
              <a:spcAft>
                <a:spcPts val="600"/>
              </a:spcAft>
            </a:pPr>
            <a:r>
              <a:rPr lang="en-IN" sz="1250" b="1">
                <a:solidFill>
                  <a:srgbClr val="38BDF8"/>
                </a:solidFill>
                <a:latin typeface="Segoe UI" panose="020B0502040204020203" pitchFamily="34" charset="0"/>
              </a:rPr>
              <a:t>FUTURE SCOPE &amp; ENHANCEMENTS</a:t>
            </a:r>
          </a:p>
          <a:p>
            <a:pPr>
              <a:spcBef>
                <a:spcPts val="300"/>
              </a:spcBef>
            </a:pPr>
            <a:r>
              <a:rPr lang="en-IN" sz="1000">
                <a:solidFill>
                  <a:srgbClr val="F8FAFC"/>
                </a:solidFill>
                <a:latin typeface="Segoe UI" panose="020B0502040204020203" pitchFamily="34" charset="0"/>
              </a:rPr>
              <a:t>• 1. 3D Stereoscopic Offside Line Projection:</a:t>
            </a:r>
          </a:p>
          <a:p>
            <a:pPr>
              <a:spcBef>
                <a:spcPts val="300"/>
              </a:spcBef>
            </a:pPr>
            <a:r>
              <a:rPr lang="en-IN" sz="1000">
                <a:solidFill>
                  <a:srgbClr val="F8FAFC"/>
                </a:solidFill>
                <a:latin typeface="Segoe UI" panose="020B0502040204020203" pitchFamily="34" charset="0"/>
              </a:rPr>
              <a:t>  Deploy multi-camera epipolar geometry and deep skeletal pose estimation (tracking shoulders and toes) to render millimeter 3D offside lines.</a:t>
            </a:r>
          </a:p>
          <a:p>
            <a:pPr>
              <a:spcBef>
                <a:spcPts val="300"/>
              </a:spcBef>
            </a:pPr>
            <a:r>
              <a:rPr lang="en-IN" sz="1000">
                <a:solidFill>
                  <a:srgbClr val="F8FAFC"/>
                </a:solidFill>
                <a:latin typeface="Segoe UI" panose="020B0502040204020203" pitchFamily="34" charset="0"/>
              </a:rPr>
              <a:t>• 2. Autonomous Drone Aerial Video Feeds:</a:t>
            </a:r>
          </a:p>
          <a:p>
            <a:pPr>
              <a:spcBef>
                <a:spcPts val="300"/>
              </a:spcBef>
            </a:pPr>
            <a:r>
              <a:rPr lang="en-IN" sz="1000">
                <a:solidFill>
                  <a:srgbClr val="F8FAFC"/>
                </a:solidFill>
                <a:latin typeface="Segoe UI" panose="020B0502040204020203" pitchFamily="34" charset="0"/>
              </a:rPr>
              <a:t>  Integrate tethered autonomous aerial drones to capture top-down bird's-eye views, tracking team formation compactness and blind-spot fouls.</a:t>
            </a:r>
          </a:p>
          <a:p>
            <a:pPr>
              <a:spcBef>
                <a:spcPts val="300"/>
              </a:spcBef>
            </a:pPr>
            <a:r>
              <a:rPr lang="en-IN" sz="1000">
                <a:solidFill>
                  <a:srgbClr val="F8FAFC"/>
                </a:solidFill>
                <a:latin typeface="Segoe UI" panose="020B0502040204020203" pitchFamily="34" charset="0"/>
              </a:rPr>
              <a:t>• 3. Turnkey Grassroots Deployment Kit:</a:t>
            </a:r>
          </a:p>
          <a:p>
            <a:pPr>
              <a:spcBef>
                <a:spcPts val="300"/>
              </a:spcBef>
            </a:pPr>
            <a:r>
              <a:rPr lang="en-IN" sz="1000">
                <a:solidFill>
                  <a:srgbClr val="F8FAFC"/>
                </a:solidFill>
                <a:latin typeface="Segoe UI" panose="020B0502040204020203" pitchFamily="34" charset="0"/>
              </a:rPr>
              <a:t>  Package the FastAPI backend and React HUD into a plug-and-play weatherproof field kit with battery-powered IoT smart bands for academies.</a:t>
            </a:r>
          </a:p>
        </p:txBody>
      </p:sp>
    </p:spTree>
    <p:extLst>
      <p:ext uri="{BB962C8B-B14F-4D97-AF65-F5344CB8AC3E}">
        <p14:creationId xmlns:p14="http://schemas.microsoft.com/office/powerpoint/2010/main" val="3832178084"/>
      </p:ext>
    </p:extLst>
  </p:cSld>
  <p:clrMapOvr>
    <a:masterClrMapping/>
  </p:clrMapOvr>
  <mc:AlternateContent xmlns:mc="http://schemas.openxmlformats.org/markup-compatibility/2006">
    <mc:Choice xmlns:p14="http://schemas.microsoft.com/office/powerpoint/2010/main" Requires="p14">
      <p:transition spd="med" p14:dur="700">
        <p:strips/>
      </p:transition>
    </mc:Choice>
    <mc:Fallback>
      <p:transition spd="med">
        <p:strip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8"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1"/>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40D18D-AB9E-9142-F6A6-7283220DD063}"/>
              </a:ext>
            </a:extLst>
          </p:cNvPr>
          <p:cNvSpPr/>
          <p:nvPr/>
        </p:nvSpPr>
        <p:spPr>
          <a:xfrm>
            <a:off x="508000" y="203200"/>
            <a:ext cx="11176000" cy="25400"/>
          </a:xfrm>
          <a:prstGeom prst="rect">
            <a:avLst/>
          </a:prstGeom>
          <a:solidFill>
            <a:srgbClr val="38BD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9B2891B-9AF1-05A9-8DC6-1B11740B21A0}"/>
              </a:ext>
            </a:extLst>
          </p:cNvPr>
          <p:cNvSpPr txBox="1"/>
          <p:nvPr/>
        </p:nvSpPr>
        <p:spPr>
          <a:xfrm>
            <a:off x="508000" y="6553200"/>
            <a:ext cx="5590633" cy="184666"/>
          </a:xfrm>
          <a:prstGeom prst="rect">
            <a:avLst/>
          </a:prstGeom>
          <a:noFill/>
        </p:spPr>
        <p:txBody>
          <a:bodyPr vert="horz" wrap="none" lIns="0" tIns="0" rtlCol="0">
            <a:spAutoFit/>
          </a:bodyPr>
          <a:lstStyle/>
          <a:p>
            <a:r>
              <a:rPr lang="en-US" sz="900">
                <a:solidFill>
                  <a:srgbClr val="94A3B8"/>
                </a:solidFill>
                <a:latin typeface="Segoe UI" panose="020B0502040204020203" pitchFamily="34" charset="0"/>
              </a:rPr>
              <a:t>Atharva College of Engineering  |  Department of Computer Engineering  |  Football Vision AI  |  Slide 17 / 17</a:t>
            </a:r>
            <a:endParaRPr lang="en-IN" sz="900">
              <a:solidFill>
                <a:srgbClr val="94A3B8"/>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2F6754F9-EADE-DD5D-A99E-6DE3FA7CBC34}"/>
              </a:ext>
            </a:extLst>
          </p:cNvPr>
          <p:cNvSpPr/>
          <p:nvPr/>
        </p:nvSpPr>
        <p:spPr>
          <a:xfrm>
            <a:off x="5524500" y="1524000"/>
            <a:ext cx="1143000" cy="1143000"/>
          </a:xfrm>
          <a:prstGeom prst="roundRect">
            <a:avLst/>
          </a:prstGeom>
          <a:solidFill>
            <a:srgbClr val="FFFFFF"/>
          </a:solidFill>
          <a:ln w="1905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DE26E869-6574-EC62-0548-FB7DE373CF3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588000" y="1587500"/>
            <a:ext cx="1016000" cy="1016000"/>
          </a:xfrm>
          <a:prstGeom prst="rect">
            <a:avLst/>
          </a:prstGeom>
        </p:spPr>
      </p:pic>
      <p:sp>
        <p:nvSpPr>
          <p:cNvPr id="7" name="TextBox 6">
            <a:extLst>
              <a:ext uri="{FF2B5EF4-FFF2-40B4-BE49-F238E27FC236}">
                <a16:creationId xmlns:a16="http://schemas.microsoft.com/office/drawing/2014/main" id="{873D2226-5CEA-F263-D903-827EF4816643}"/>
              </a:ext>
            </a:extLst>
          </p:cNvPr>
          <p:cNvSpPr txBox="1"/>
          <p:nvPr/>
        </p:nvSpPr>
        <p:spPr>
          <a:xfrm>
            <a:off x="1016000" y="3048000"/>
            <a:ext cx="10160000" cy="1015663"/>
          </a:xfrm>
          <a:prstGeom prst="rect">
            <a:avLst/>
          </a:prstGeom>
          <a:noFill/>
        </p:spPr>
        <p:txBody>
          <a:bodyPr vert="horz" wrap="square" rtlCol="0">
            <a:spAutoFit/>
          </a:bodyPr>
          <a:lstStyle/>
          <a:p>
            <a:pPr algn="ctr"/>
            <a:r>
              <a:rPr lang="en-IN" sz="6000" b="1">
                <a:solidFill>
                  <a:srgbClr val="F8FAFC"/>
                </a:solidFill>
                <a:latin typeface="Trebuchet MS" panose="020B0603020202020204" pitchFamily="34" charset="0"/>
              </a:rPr>
              <a:t>THANK YOU!</a:t>
            </a:r>
          </a:p>
        </p:txBody>
      </p:sp>
      <p:sp>
        <p:nvSpPr>
          <p:cNvPr id="8" name="TextBox 7">
            <a:extLst>
              <a:ext uri="{FF2B5EF4-FFF2-40B4-BE49-F238E27FC236}">
                <a16:creationId xmlns:a16="http://schemas.microsoft.com/office/drawing/2014/main" id="{9FE51894-5D96-ABE8-A32E-542A952254C2}"/>
              </a:ext>
            </a:extLst>
          </p:cNvPr>
          <p:cNvSpPr txBox="1"/>
          <p:nvPr/>
        </p:nvSpPr>
        <p:spPr>
          <a:xfrm>
            <a:off x="1016000" y="4191000"/>
            <a:ext cx="10160000" cy="461665"/>
          </a:xfrm>
          <a:prstGeom prst="rect">
            <a:avLst/>
          </a:prstGeom>
          <a:noFill/>
        </p:spPr>
        <p:txBody>
          <a:bodyPr vert="horz" wrap="square" rtlCol="0">
            <a:spAutoFit/>
          </a:bodyPr>
          <a:lstStyle/>
          <a:p>
            <a:pPr algn="ctr"/>
            <a:r>
              <a:rPr lang="en-IN" sz="2400" b="1">
                <a:solidFill>
                  <a:srgbClr val="38BDF8"/>
                </a:solidFill>
                <a:latin typeface="Segoe UI" panose="020B0502040204020203" pitchFamily="34" charset="0"/>
              </a:rPr>
              <a:t>Questions &amp; Discussion</a:t>
            </a:r>
          </a:p>
        </p:txBody>
      </p:sp>
    </p:spTree>
    <p:extLst>
      <p:ext uri="{BB962C8B-B14F-4D97-AF65-F5344CB8AC3E}">
        <p14:creationId xmlns:p14="http://schemas.microsoft.com/office/powerpoint/2010/main" val="3155551235"/>
      </p:ext>
    </p:extLst>
  </p:cSld>
  <p:clrMapOvr>
    <a:masterClrMapping/>
  </p:clrMapOvr>
  <p:transition spd="slow">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500"/>
                                        <p:tgtEl>
                                          <p:spTgt spid="4"/>
                                        </p:tgtEl>
                                      </p:cBhvr>
                                    </p:animEffect>
                                  </p:childTnLst>
                                </p:cTn>
                              </p:par>
                              <p:par>
                                <p:cTn id="8" presetID="6" presetClass="entr" presetSubtype="16"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500"/>
                                        <p:tgtEl>
                                          <p:spTgt spid="6"/>
                                        </p:tgtEl>
                                      </p:cBhvr>
                                    </p:animEffect>
                                  </p:childTnLst>
                                </p:cTn>
                              </p:par>
                              <p:par>
                                <p:cTn id="11" presetID="2" presetClass="entr" presetSubtype="1" fill="hold" grpId="0" nodeType="withEffect">
                                  <p:stCondLst>
                                    <p:cond delay="2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0-#ppt_h/2"/>
                                          </p:val>
                                        </p:tav>
                                        <p:tav tm="100000">
                                          <p:val>
                                            <p:strVal val="#ppt_y"/>
                                          </p:val>
                                        </p:tav>
                                      </p:tavLst>
                                    </p:anim>
                                  </p:childTnLst>
                                </p:cTn>
                              </p:par>
                              <p:par>
                                <p:cTn id="15" presetID="28" presetClass="entr" presetSubtype="0" fill="hold" grpId="0" nodeType="withEffect">
                                  <p:stCondLst>
                                    <p:cond delay="35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ppt_x</p:attrName>
                                        </p:attrNameLst>
                                      </p:cBhvr>
                                      <p:tavLst>
                                        <p:tav tm="0">
                                          <p:val>
                                            <p:strVal val="#ppt_x"/>
                                          </p:val>
                                        </p:tav>
                                        <p:tav tm="100000">
                                          <p:val>
                                            <p:strVal val="#ppt_x"/>
                                          </p:val>
                                        </p:tav>
                                      </p:tavLst>
                                    </p:anim>
                                    <p:anim calcmode="lin" valueType="num">
                                      <p:cBhvr>
                                        <p:cTn id="18" dur="500" fill="hold"/>
                                        <p:tgtEl>
                                          <p:spTgt spid="8"/>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3447</Words>
  <Application>Microsoft Office PowerPoint</Application>
  <PresentationFormat>Custom</PresentationFormat>
  <Paragraphs>323</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Consolas</vt:lpstr>
      <vt:lpstr>Segoe UI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Dhanvi Sutariya</dc:creator>
  <cp:lastModifiedBy>Dhanvi Sutariya</cp:lastModifiedBy>
  <cp:revision>1</cp:revision>
  <dcterms:created xsi:type="dcterms:W3CDTF">2026-10-21T09:49:16Z</dcterms:created>
  <dcterms:modified xsi:type="dcterms:W3CDTF">2026-10-21T09:49:16Z</dcterms:modified>
</cp:coreProperties>
</file>